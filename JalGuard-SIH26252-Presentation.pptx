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0" r:id="rId5"/>
    <p:sldId id="259" r:id="rId6"/>
    <p:sldId id="261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arsh Chaudhary" userId="5932dd2c25a73e6b" providerId="LiveId" clId="{60D78A62-65FC-4C5B-81E0-405867020D7B}"/>
    <pc:docChg chg="custSel addSld modSld sldOrd">
      <pc:chgData name="Aadarsh Chaudhary" userId="5932dd2c25a73e6b" providerId="LiveId" clId="{60D78A62-65FC-4C5B-81E0-405867020D7B}" dt="2026-10-06T06:31:39.819" v="44" actId="20577"/>
      <pc:docMkLst>
        <pc:docMk/>
      </pc:docMkLst>
      <pc:sldChg chg="delSp modSp mod">
        <pc:chgData name="Aadarsh Chaudhary" userId="5932dd2c25a73e6b" providerId="LiveId" clId="{60D78A62-65FC-4C5B-81E0-405867020D7B}" dt="2026-10-06T06:31:39.819" v="44" actId="20577"/>
        <pc:sldMkLst>
          <pc:docMk/>
          <pc:sldMk cId="0" sldId="256"/>
        </pc:sldMkLst>
        <pc:spChg chg="mod">
          <ac:chgData name="Aadarsh Chaudhary" userId="5932dd2c25a73e6b" providerId="LiveId" clId="{60D78A62-65FC-4C5B-81E0-405867020D7B}" dt="2026-10-06T06:31:39.819" v="44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Aadarsh Chaudhary" userId="5932dd2c25a73e6b" providerId="LiveId" clId="{60D78A62-65FC-4C5B-81E0-405867020D7B}" dt="2026-10-06T06:30:07.746" v="15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Aadarsh Chaudhary" userId="5932dd2c25a73e6b" providerId="LiveId" clId="{60D78A62-65FC-4C5B-81E0-405867020D7B}" dt="2026-10-06T06:30:49.454" v="16" actId="1076"/>
          <ac:spMkLst>
            <pc:docMk/>
            <pc:sldMk cId="0" sldId="256"/>
            <ac:spMk id="9" creationId="{00000000-0000-0000-0000-000000000000}"/>
          </ac:spMkLst>
        </pc:spChg>
      </pc:sldChg>
      <pc:sldChg chg="add setBg">
        <pc:chgData name="Aadarsh Chaudhary" userId="5932dd2c25a73e6b" providerId="LiveId" clId="{60D78A62-65FC-4C5B-81E0-405867020D7B}" dt="2026-10-06T04:04:39.112" v="0"/>
        <pc:sldMkLst>
          <pc:docMk/>
          <pc:sldMk cId="2810825881" sldId="257"/>
        </pc:sldMkLst>
      </pc:sldChg>
      <pc:sldChg chg="addSp modSp add setBg">
        <pc:chgData name="Aadarsh Chaudhary" userId="5932dd2c25a73e6b" providerId="LiveId" clId="{60D78A62-65FC-4C5B-81E0-405867020D7B}" dt="2026-10-06T04:18:36.706" v="9"/>
        <pc:sldMkLst>
          <pc:docMk/>
          <pc:sldMk cId="1587997576" sldId="258"/>
        </pc:sldMkLst>
        <pc:spChg chg="add mod">
          <ac:chgData name="Aadarsh Chaudhary" userId="5932dd2c25a73e6b" providerId="LiveId" clId="{60D78A62-65FC-4C5B-81E0-405867020D7B}" dt="2026-10-06T04:18:36.706" v="9"/>
          <ac:spMkLst>
            <pc:docMk/>
            <pc:sldMk cId="1587997576" sldId="258"/>
            <ac:spMk id="2" creationId="{55B29B91-11E0-F338-A14D-A8E879A4FD4C}"/>
          </ac:spMkLst>
        </pc:spChg>
      </pc:sldChg>
      <pc:sldChg chg="add setBg modNotes">
        <pc:chgData name="Aadarsh Chaudhary" userId="5932dd2c25a73e6b" providerId="LiveId" clId="{60D78A62-65FC-4C5B-81E0-405867020D7B}" dt="2026-10-06T04:06:59.862" v="2"/>
        <pc:sldMkLst>
          <pc:docMk/>
          <pc:sldMk cId="2963300514" sldId="259"/>
        </pc:sldMkLst>
      </pc:sldChg>
      <pc:sldChg chg="add ord">
        <pc:chgData name="Aadarsh Chaudhary" userId="5932dd2c25a73e6b" providerId="LiveId" clId="{60D78A62-65FC-4C5B-81E0-405867020D7B}" dt="2026-10-06T04:07:52.999" v="5"/>
        <pc:sldMkLst>
          <pc:docMk/>
          <pc:sldMk cId="1940443633" sldId="260"/>
        </pc:sldMkLst>
      </pc:sldChg>
      <pc:sldChg chg="add">
        <pc:chgData name="Aadarsh Chaudhary" userId="5932dd2c25a73e6b" providerId="LiveId" clId="{60D78A62-65FC-4C5B-81E0-405867020D7B}" dt="2026-10-06T04:07:49.723" v="4"/>
        <pc:sldMkLst>
          <pc:docMk/>
          <pc:sldMk cId="2694757151" sldId="261"/>
        </pc:sldMkLst>
      </pc:sldChg>
      <pc:sldChg chg="add ord setBg modNotes">
        <pc:chgData name="Aadarsh Chaudhary" userId="5932dd2c25a73e6b" providerId="LiveId" clId="{60D78A62-65FC-4C5B-81E0-405867020D7B}" dt="2026-10-06T05:28:45.886" v="13"/>
        <pc:sldMkLst>
          <pc:docMk/>
          <pc:sldMk cId="720983640" sldId="262"/>
        </pc:sldMkLst>
      </pc:sldChg>
      <pc:sldChg chg="add ord modNotes">
        <pc:chgData name="Aadarsh Chaudhary" userId="5932dd2c25a73e6b" providerId="LiveId" clId="{60D78A62-65FC-4C5B-81E0-405867020D7B}" dt="2026-10-06T04:41:21.192" v="11"/>
        <pc:sldMkLst>
          <pc:docMk/>
          <pc:sldMk cId="750618929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8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5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slide: JalGuard moves water-quality work from testing water to protecting water sources. Field screening flags sources as safe/routine, monitor/retest, or priority/lab confirmation; data flows Village to Block to District to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88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10027"/>
            <a:ext cx="10102931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90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9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756887"/>
            <a:ext cx="16459200" cy="7310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240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763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9" Type="http://schemas.openxmlformats.org/officeDocument/2006/relationships/image" Target="../media/image49.png"/><Relationship Id="rId21" Type="http://schemas.openxmlformats.org/officeDocument/2006/relationships/image" Target="../media/image31.png"/><Relationship Id="rId34" Type="http://schemas.openxmlformats.org/officeDocument/2006/relationships/image" Target="../media/image44.png"/><Relationship Id="rId42" Type="http://schemas.openxmlformats.org/officeDocument/2006/relationships/image" Target="../media/image52.png"/><Relationship Id="rId47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6.png"/><Relationship Id="rId29" Type="http://schemas.openxmlformats.org/officeDocument/2006/relationships/image" Target="../media/image39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49" Type="http://schemas.openxmlformats.org/officeDocument/2006/relationships/image" Target="../media/image57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4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43" Type="http://schemas.openxmlformats.org/officeDocument/2006/relationships/image" Target="../media/image53.png"/><Relationship Id="rId48" Type="http://schemas.openxmlformats.org/officeDocument/2006/relationships/image" Target="../media/image8.png"/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20" Type="http://schemas.openxmlformats.org/officeDocument/2006/relationships/image" Target="../media/image30.png"/><Relationship Id="rId41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5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73727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bstract/document/11013127" TargetMode="External"/><Relationship Id="rId5" Type="http://schemas.openxmlformats.org/officeDocument/2006/relationships/hyperlink" Target="https://ieeexplore.ieee.org/document/10533575" TargetMode="External"/><Relationship Id="rId4" Type="http://schemas.openxmlformats.org/officeDocument/2006/relationships/hyperlink" Target="https://ieeexplore.ieee.org/abstract/document/101872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29600" y="1485900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026768" y="2782434"/>
            <a:ext cx="4805267" cy="5139309"/>
          </a:xfrm>
          <a:custGeom>
            <a:avLst/>
            <a:gdLst/>
            <a:ahLst/>
            <a:cxnLst/>
            <a:rect l="l" t="t" r="r" b="b"/>
            <a:pathLst>
              <a:path w="6407023" h="6852412">
                <a:moveTo>
                  <a:pt x="0" y="0"/>
                </a:moveTo>
                <a:lnTo>
                  <a:pt x="6407023" y="0"/>
                </a:lnTo>
                <a:lnTo>
                  <a:pt x="6407023" y="6852412"/>
                </a:lnTo>
                <a:lnTo>
                  <a:pt x="0" y="6852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9475" b="-1"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04404" y="1141534"/>
            <a:ext cx="12618720" cy="1464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US" sz="48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 (MS) Bold"/>
            </a:endParaRPr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 (MS) Bold"/>
              </a:rPr>
              <a:t>JalGuard - Smart Field Water Surveillance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1364" y="-595808"/>
            <a:ext cx="15544800" cy="31289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1F497D"/>
                </a:solidFill>
                <a:latin typeface="Times New Roman" panose="02020603050405020304" pitchFamily="18" charset="0"/>
                <a:ea typeface="Garamond Bold"/>
                <a:cs typeface="Times New Roman" panose="02020603050405020304" pitchFamily="18" charset="0"/>
                <a:sym typeface="Garamond Bold"/>
              </a:rPr>
              <a:t>SMART INDIA HACKATHON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1364" y="2136568"/>
            <a:ext cx="8703945" cy="7405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lvl="1" indent="-271462">
              <a:lnSpc>
                <a:spcPts val="72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ID – SIH26252</a:t>
            </a:r>
          </a:p>
          <a:p>
            <a:pPr marL="542925" lvl="1" indent="-271462">
              <a:lnSpc>
                <a:spcPct val="10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Problem Statement Title-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Field Test Kits for Detection and Monitoring of Emerging Contaminants (PFAS, Microplastics, etc.) in Drinking Water Sources and Water Supply Systems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Calibri (MS) Bold"/>
              <a:cs typeface="Times New Roman" panose="02020603050405020304" pitchFamily="18" charset="0"/>
              <a:sym typeface="Calibri (MS) Bold"/>
            </a:endParaRPr>
          </a:p>
          <a:p>
            <a:pPr marL="728663" lvl="1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Calibri (MS) Bold"/>
              <a:cs typeface="Times New Roman" panose="02020603050405020304" pitchFamily="18" charset="0"/>
              <a:sym typeface="Calibri (MS) Bold"/>
            </a:endParaRPr>
          </a:p>
          <a:p>
            <a:pPr marL="542925" lvl="1" indent="-271462">
              <a:lnSpc>
                <a:spcPct val="1000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Theme-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Green Technology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542925" lvl="1" indent="-271462">
              <a:lnSpc>
                <a:spcPts val="72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PS Category- Hardware</a:t>
            </a:r>
          </a:p>
          <a:p>
            <a:pPr marL="542925" lvl="1" indent="-271462">
              <a:lnSpc>
                <a:spcPts val="72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ID- 196353</a:t>
            </a:r>
          </a:p>
          <a:p>
            <a:pPr marL="542925" lvl="1" indent="-271462">
              <a:lnSpc>
                <a:spcPts val="720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Name – AQUARENEW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832035" y="176489"/>
            <a:ext cx="3200400" cy="1413034"/>
          </a:xfrm>
          <a:custGeom>
            <a:avLst/>
            <a:gdLst/>
            <a:ahLst/>
            <a:cxnLst/>
            <a:rect l="l" t="t" r="r" b="b"/>
            <a:pathLst>
              <a:path w="4267200" h="1884045">
                <a:moveTo>
                  <a:pt x="0" y="0"/>
                </a:moveTo>
                <a:lnTo>
                  <a:pt x="4267200" y="0"/>
                </a:lnTo>
                <a:lnTo>
                  <a:pt x="4267200" y="1884045"/>
                </a:lnTo>
                <a:lnTo>
                  <a:pt x="0" y="1884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557" b="-7555"/>
            </a:stretch>
          </a:blip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57313"/>
            <a:ext cx="182880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099" y="5413400"/>
            <a:ext cx="8286750" cy="2143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flipH="1">
            <a:off x="8415884" y="1357313"/>
            <a:ext cx="68579" cy="686040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8217718"/>
            <a:ext cx="18288000" cy="2143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929813"/>
            <a:ext cx="18288000" cy="35718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1105" y="8299393"/>
            <a:ext cx="3929063" cy="1191695"/>
          </a:xfrm>
          <a:prstGeom prst="roundRect">
            <a:avLst>
              <a:gd name="adj" fmla="val 6400"/>
            </a:avLst>
          </a:prstGeom>
          <a:solidFill>
            <a:srgbClr val="FDECEC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82491" y="8299393"/>
            <a:ext cx="3929063" cy="1191695"/>
          </a:xfrm>
          <a:prstGeom prst="roundRect">
            <a:avLst>
              <a:gd name="adj" fmla="val 6400"/>
            </a:avLst>
          </a:prstGeom>
          <a:solidFill>
            <a:srgbClr val="FFF9E6"/>
          </a:solidFill>
          <a:ln w="190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09287" y="8299392"/>
            <a:ext cx="3929063" cy="1193868"/>
          </a:xfrm>
          <a:prstGeom prst="roundRect">
            <a:avLst>
              <a:gd name="adj" fmla="val 6400"/>
            </a:avLst>
          </a:prstGeom>
          <a:solidFill>
            <a:srgbClr val="EAF5E9"/>
          </a:solidFill>
          <a:ln w="190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172073" y="8293893"/>
            <a:ext cx="3929063" cy="1199367"/>
          </a:xfrm>
          <a:prstGeom prst="roundRect">
            <a:avLst>
              <a:gd name="adj" fmla="val 6400"/>
            </a:avLst>
          </a:prstGeom>
          <a:solidFill>
            <a:srgbClr val="EAF1FC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583506" y="205666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72500" y="32141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56875" y="398160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56875" y="509193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47414" y="6021099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835" y="8667295"/>
            <a:ext cx="500063" cy="357188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969" y="8719411"/>
            <a:ext cx="500063" cy="35718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406" y="8654714"/>
            <a:ext cx="500063" cy="357188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89" y="5747356"/>
            <a:ext cx="642938" cy="642938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04" y="6761462"/>
            <a:ext cx="642938" cy="642938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552" y="7623763"/>
            <a:ext cx="642938" cy="64293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429000" y="59267"/>
            <a:ext cx="12087225" cy="1246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700" dirty="0"/>
              <a:t>Development of Field Test Kits for Detection and Monitoring of Emerging Contaminants (PFAS, Microplastics, etc.) in Drinking Water Sources and Water Supply Systems</a:t>
            </a:r>
            <a:endParaRPr sz="38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25761" y="600075"/>
            <a:ext cx="1942840" cy="311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25" b="1" i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INNOVEXA 007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1272" y="1428750"/>
            <a:ext cx="180421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Problem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92940" y="5417216"/>
            <a:ext cx="1755288" cy="3808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Edge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36042" y="1428750"/>
            <a:ext cx="270266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</a:t>
            </a:r>
            <a:r>
              <a:rPr lang="en-US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693" y="9486260"/>
            <a:ext cx="850277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→ LOCATE → VERIFY → PREDICT → 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91035" y="1854003"/>
            <a:ext cx="5801352" cy="3231654"/>
          </a:xfrm>
          <a:prstGeom prst="rect">
            <a:avLst/>
          </a:prstGeom>
          <a:noFill/>
        </p:spPr>
        <p:txBody>
          <a:bodyPr wrap="square" lIns="71438" tIns="0" rIns="0" bIns="0" anchor="t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 to Detect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PFAS and microplastics are difficult to screen quickly in the field.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Lab Dependency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often requires specialized laboratories and costly instruments.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Limited Field Monitoring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water sources cannot be checked frequently or easily.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 Connected Visibility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results are often not linked with location, history, and trends for timely follow-up.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41622" y="8332782"/>
            <a:ext cx="140904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694" y="8615210"/>
            <a:ext cx="3598385" cy="816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Expensive + Lab Dependent</a:t>
            </a:r>
            <a:r>
              <a:rPr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Infrequent +</a:t>
            </a:r>
            <a:r>
              <a:rPr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Poor Rural Coverage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923" y="8482250"/>
            <a:ext cx="86562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IDEA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47086" y="8845042"/>
            <a:ext cx="3129297" cy="534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Portable Field Screening</a:t>
            </a:r>
            <a:r>
              <a:rPr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Smartphone AI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48010" y="8555118"/>
            <a:ext cx="169148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INNOVATION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72094" y="8964544"/>
            <a:ext cx="3139901" cy="667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+ Offline App + GIS</a:t>
            </a:r>
            <a:r>
              <a:rPr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AI Trends +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Alerts</a:t>
            </a:r>
          </a:p>
          <a:p>
            <a:pPr algn="ctr">
              <a:lnSpc>
                <a:spcPts val="2159"/>
              </a:lnSpc>
            </a:pPr>
            <a:endParaRPr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4985557" y="8527755"/>
            <a:ext cx="183543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🚀 UNIQUE EDGE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432495" y="8952977"/>
            <a:ext cx="336760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Field Screening → Source-Level Digital Surveillance</a:t>
            </a:r>
            <a:endParaRPr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750" y="5747932"/>
            <a:ext cx="243175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 a Testing Kit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8049" y="6035799"/>
            <a:ext cx="5770811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46"/>
              </a:lnSpc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surveillance of many sources, not just one sample.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5694" y="6332770"/>
            <a:ext cx="2507097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Dual-Mode Screening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049" y="6646727"/>
            <a:ext cx="57545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PFAS (Target-Specific Screening)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Microplastics (Filtration + Staining + Optical Imaging + AI Analysis)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46059" y="7274545"/>
            <a:ext cx="328455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 as Field Reader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7408" y="7616291"/>
            <a:ext cx="6084999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Cartridge → Smartphone Camera/Reader → Signal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→ Staining/Illumination → Camera → AI-assisted analysis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020486" y="2035658"/>
            <a:ext cx="250222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Dual-Mode Screening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63093" y="2390902"/>
            <a:ext cx="4257675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Target-specific PFAS screening + Microplastics (Filtration + Staining + Optical Imaging + AI Analysis)</a:t>
            </a:r>
            <a:endParaRPr sz="16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050807" y="3227087"/>
            <a:ext cx="1801775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+ Locate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716" y="3535789"/>
            <a:ext cx="3993016" cy="2419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74"/>
              </a:lnSpc>
            </a:pPr>
            <a:r>
              <a:rPr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test gets Sample ID + GPS + Timestamp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29700" y="5067853"/>
            <a:ext cx="303929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Rural Design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21858" y="5450168"/>
            <a:ext cx="425767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→ Save locally → Sync when connectivity returns</a:t>
            </a:r>
            <a:endParaRPr sz="15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980763" y="6016789"/>
            <a:ext cx="379424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Screening + Confirmation Model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EDA0EAD-1E99-DA9F-7D07-E8C81CE7C21E}"/>
              </a:ext>
            </a:extLst>
          </p:cNvPr>
          <p:cNvSpPr txBox="1"/>
          <p:nvPr/>
        </p:nvSpPr>
        <p:spPr>
          <a:xfrm>
            <a:off x="8863979" y="3910028"/>
            <a:ext cx="3738563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Surveillance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trend analysis identifies rising-risk sources and prioritizes follow-up testing.</a:t>
            </a:r>
            <a:endParaRPr lang="en-IN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F4C32EA-45DB-7E8D-4108-3950AFA59FD2}"/>
              </a:ext>
            </a:extLst>
          </p:cNvPr>
          <p:cNvSpPr txBox="1"/>
          <p:nvPr/>
        </p:nvSpPr>
        <p:spPr>
          <a:xfrm>
            <a:off x="8809017" y="6305634"/>
            <a:ext cx="45133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screening → Risk assessment → Follow-up / Laboratory confirmation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B0AAB60E-F8CA-F4B7-AF25-1AE140228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8269" y="-50598"/>
            <a:ext cx="2647688" cy="12650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473E28-EAE3-362C-F7A2-6809A92E7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33" y="85539"/>
            <a:ext cx="3205571" cy="891579"/>
          </a:xfrm>
          <a:prstGeom prst="rect">
            <a:avLst/>
          </a:prstGeom>
        </p:spPr>
      </p:pic>
      <p:pic>
        <p:nvPicPr>
          <p:cNvPr id="22" name="Picture 21" descr="Water Testing Lab in Prayagraj – Pro Research and Testing Lab">
            <a:extLst>
              <a:ext uri="{FF2B5EF4-FFF2-40B4-BE49-F238E27FC236}">
                <a16:creationId xmlns:a16="http://schemas.microsoft.com/office/drawing/2014/main" id="{E6AD2198-308D-70B5-266E-93C5FA8E4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6" y="3328060"/>
            <a:ext cx="2300927" cy="1429121"/>
          </a:xfrm>
          <a:prstGeom prst="rect">
            <a:avLst/>
          </a:prstGeom>
        </p:spPr>
      </p:pic>
      <p:pic>
        <p:nvPicPr>
          <p:cNvPr id="23" name="Picture 22" descr="Govt makes it easier for users to get drinking water tested">
            <a:extLst>
              <a:ext uri="{FF2B5EF4-FFF2-40B4-BE49-F238E27FC236}">
                <a16:creationId xmlns:a16="http://schemas.microsoft.com/office/drawing/2014/main" id="{690540EE-B465-4F08-0652-12EA1D8B97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3" y="1384756"/>
            <a:ext cx="2350400" cy="12894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6E55DB-9696-E1C9-CFA3-F420808225FC}"/>
              </a:ext>
            </a:extLst>
          </p:cNvPr>
          <p:cNvSpPr txBox="1"/>
          <p:nvPr/>
        </p:nvSpPr>
        <p:spPr>
          <a:xfrm>
            <a:off x="15523" y="2593689"/>
            <a:ext cx="23009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Water Source &amp; Field Testing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6EE44B-7880-C828-1A6C-171506F46545}"/>
              </a:ext>
            </a:extLst>
          </p:cNvPr>
          <p:cNvSpPr txBox="1"/>
          <p:nvPr/>
        </p:nvSpPr>
        <p:spPr>
          <a:xfrm>
            <a:off x="15522" y="4713683"/>
            <a:ext cx="24897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50" dirty="0"/>
              <a:t>Laboratory-Based Water Testing</a:t>
            </a:r>
            <a:endParaRPr lang="en-I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B6B0BF3-7454-AB05-EDEB-08F479F148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23635" y="1964846"/>
            <a:ext cx="4801940" cy="590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2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edge"/>
          <p:cNvSpPr/>
          <p:nvPr/>
        </p:nvSpPr>
        <p:spPr>
          <a:xfrm>
            <a:off x="0" y="944315"/>
            <a:ext cx="18287955" cy="0"/>
          </a:xfrm>
          <a:prstGeom prst="line">
            <a:avLst/>
          </a:prstGeom>
          <a:noFill/>
          <a:ln w="19050">
            <a:solidFill>
              <a:srgbClr val="1E6FC0"/>
            </a:solidFill>
            <a:prstDash val="solid"/>
          </a:ln>
        </p:spPr>
      </p:sp>
      <p:sp>
        <p:nvSpPr>
          <p:cNvPr id="12" name="Header tagline"/>
          <p:cNvSpPr txBox="1"/>
          <p:nvPr/>
        </p:nvSpPr>
        <p:spPr>
          <a:xfrm>
            <a:off x="15632867" y="180827"/>
            <a:ext cx="2738430" cy="542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Cleaner Water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Healthier Communities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anel 1 body"/>
          <p:cNvSpPr/>
          <p:nvPr/>
        </p:nvSpPr>
        <p:spPr>
          <a:xfrm>
            <a:off x="154781" y="1105049"/>
            <a:ext cx="4679145" cy="4199186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15" name="Panel 1 header"/>
          <p:cNvSpPr/>
          <p:nvPr/>
        </p:nvSpPr>
        <p:spPr>
          <a:xfrm>
            <a:off x="166688" y="1115095"/>
            <a:ext cx="4655333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16" name="Panel 1 badge"/>
          <p:cNvSpPr/>
          <p:nvPr/>
        </p:nvSpPr>
        <p:spPr>
          <a:xfrm>
            <a:off x="226219" y="1061518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Panel 1 number"/>
          <p:cNvSpPr txBox="1"/>
          <p:nvPr/>
        </p:nvSpPr>
        <p:spPr>
          <a:xfrm>
            <a:off x="226219" y="1095003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anel 1 title"/>
          <p:cNvSpPr txBox="1"/>
          <p:nvPr/>
        </p:nvSpPr>
        <p:spPr>
          <a:xfrm>
            <a:off x="892967" y="1115095"/>
            <a:ext cx="3845709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System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 intro"/>
          <p:cNvSpPr txBox="1"/>
          <p:nvPr/>
        </p:nvSpPr>
        <p:spPr>
          <a:xfrm>
            <a:off x="356473" y="1466330"/>
            <a:ext cx="4286240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JalGuard is a portable, multi-parameter water quality monitoring device that detects: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Microplastics circle"/>
          <p:cNvSpPr/>
          <p:nvPr/>
        </p:nvSpPr>
        <p:spPr>
          <a:xfrm>
            <a:off x="892967" y="1968626"/>
            <a:ext cx="904872" cy="904872"/>
          </a:xfrm>
          <a:prstGeom prst="ellipse">
            <a:avLst/>
          </a:prstGeom>
          <a:solidFill>
            <a:srgbClr val="0D4A8F"/>
          </a:solidFill>
          <a:ln w="25400">
            <a:solidFill>
              <a:srgbClr val="2E7BD0"/>
            </a:solidFill>
            <a:prstDash val="solid"/>
          </a:ln>
        </p:spPr>
      </p:sp>
      <p:pic>
        <p:nvPicPr>
          <p:cNvPr id="21" name="Microplastics icon" descr="Microplastic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67" y="2159125"/>
            <a:ext cx="523874" cy="523874"/>
          </a:xfrm>
          <a:prstGeom prst="rect">
            <a:avLst/>
          </a:prstGeom>
        </p:spPr>
      </p:pic>
      <p:sp>
        <p:nvSpPr>
          <p:cNvPr id="22" name="PFAS circle"/>
          <p:cNvSpPr/>
          <p:nvPr/>
        </p:nvSpPr>
        <p:spPr>
          <a:xfrm>
            <a:off x="3155148" y="1958580"/>
            <a:ext cx="904872" cy="904872"/>
          </a:xfrm>
          <a:prstGeom prst="ellipse">
            <a:avLst/>
          </a:prstGeom>
          <a:solidFill>
            <a:srgbClr val="0D4A8F"/>
          </a:solidFill>
          <a:ln w="25400">
            <a:solidFill>
              <a:srgbClr val="2E7BD0"/>
            </a:solidFill>
            <a:prstDash val="solid"/>
          </a:ln>
        </p:spPr>
      </p:sp>
      <p:pic>
        <p:nvPicPr>
          <p:cNvPr id="23" name="PFAS icon" descr="PFA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649" y="2149079"/>
            <a:ext cx="523874" cy="523874"/>
          </a:xfrm>
          <a:prstGeom prst="rect">
            <a:avLst/>
          </a:prstGeom>
        </p:spPr>
      </p:pic>
      <p:sp>
        <p:nvSpPr>
          <p:cNvPr id="24" name="P1 divider"/>
          <p:cNvSpPr/>
          <p:nvPr/>
        </p:nvSpPr>
        <p:spPr>
          <a:xfrm>
            <a:off x="2476494" y="2079501"/>
            <a:ext cx="0" cy="1697757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214313" y="2853035"/>
            <a:ext cx="2262182" cy="24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Microplastics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214313" y="3064000"/>
            <a:ext cx="2262182" cy="20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(visual + AI/ML)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2476495" y="2853035"/>
            <a:ext cx="2262182" cy="24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PFOA &amp; PFOS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"/>
          <p:cNvSpPr txBox="1"/>
          <p:nvPr/>
        </p:nvSpPr>
        <p:spPr>
          <a:xfrm>
            <a:off x="2476495" y="3064000"/>
            <a:ext cx="2262182" cy="20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(proposed sensing module)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Button microplastics"/>
          <p:cNvSpPr/>
          <p:nvPr/>
        </p:nvSpPr>
        <p:spPr>
          <a:xfrm>
            <a:off x="500061" y="3355331"/>
            <a:ext cx="1690683" cy="351606"/>
          </a:xfrm>
          <a:prstGeom prst="roundRect">
            <a:avLst>
              <a:gd name="adj" fmla="val 23406"/>
            </a:avLst>
          </a:prstGeom>
          <a:solidFill>
            <a:srgbClr val="12A37A"/>
          </a:solidFill>
          <a:ln/>
        </p:spPr>
      </p:sp>
      <p:sp>
        <p:nvSpPr>
          <p:cNvPr id="30" name="text"/>
          <p:cNvSpPr txBox="1"/>
          <p:nvPr/>
        </p:nvSpPr>
        <p:spPr>
          <a:xfrm>
            <a:off x="500061" y="3355331"/>
            <a:ext cx="1690683" cy="351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Screening Result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Button PFAS"/>
          <p:cNvSpPr/>
          <p:nvPr/>
        </p:nvSpPr>
        <p:spPr>
          <a:xfrm>
            <a:off x="2714618" y="3345284"/>
            <a:ext cx="1809746" cy="431973"/>
          </a:xfrm>
          <a:prstGeom prst="roundRect">
            <a:avLst>
              <a:gd name="adj" fmla="val 19051"/>
            </a:avLst>
          </a:prstGeom>
          <a:solidFill>
            <a:srgbClr val="12A37A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2714618" y="3345284"/>
            <a:ext cx="1809746" cy="43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Screening 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(with estimated range)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P1 feature strip"/>
          <p:cNvSpPr/>
          <p:nvPr/>
        </p:nvSpPr>
        <p:spPr>
          <a:xfrm>
            <a:off x="273843" y="3968130"/>
            <a:ext cx="4441020" cy="1225599"/>
          </a:xfrm>
          <a:prstGeom prst="roundRect">
            <a:avLst>
              <a:gd name="adj" fmla="val 5596"/>
            </a:avLst>
          </a:prstGeom>
          <a:solidFill>
            <a:schemeClr val="bg1"/>
          </a:solidFill>
          <a:ln w="12700">
            <a:solidFill>
              <a:srgbClr val="B7D6F3"/>
            </a:solidFill>
            <a:prstDash val="solid"/>
          </a:ln>
        </p:spPr>
      </p:sp>
      <p:pic>
        <p:nvPicPr>
          <p:cNvPr id="34" name="Portable icon" descr="Portab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6" y="4103564"/>
            <a:ext cx="452436" cy="452436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261938" y="4540747"/>
            <a:ext cx="1095372" cy="40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Portable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Real-time Analysis icon" descr="Real-time Analysi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683" y="4103564"/>
            <a:ext cx="452436" cy="452436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1369215" y="4540747"/>
            <a:ext cx="1095372" cy="40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Real-time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Cloud Sync (Optional) icon" descr="Cloud Sync (Optional)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962" y="4103564"/>
            <a:ext cx="452436" cy="452436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2476494" y="4540747"/>
            <a:ext cx="1095372" cy="40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Cloud Sync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(Optional)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User Friendly Interface icon" descr="User Friendly Interfa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0959" y="4103564"/>
            <a:ext cx="452436" cy="452436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3619491" y="4540747"/>
            <a:ext cx="1095372" cy="40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Friendly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Interface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P1 strip divider"/>
          <p:cNvSpPr/>
          <p:nvPr/>
        </p:nvSpPr>
        <p:spPr>
          <a:xfrm>
            <a:off x="1369215" y="4068590"/>
            <a:ext cx="0" cy="1034727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</p:sp>
      <p:sp>
        <p:nvSpPr>
          <p:cNvPr id="43" name="P1 strip divider"/>
          <p:cNvSpPr/>
          <p:nvPr/>
        </p:nvSpPr>
        <p:spPr>
          <a:xfrm>
            <a:off x="2476494" y="4068590"/>
            <a:ext cx="0" cy="1034727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</p:sp>
      <p:sp>
        <p:nvSpPr>
          <p:cNvPr id="44" name="P1 strip divider"/>
          <p:cNvSpPr/>
          <p:nvPr/>
        </p:nvSpPr>
        <p:spPr>
          <a:xfrm>
            <a:off x="3571866" y="4068590"/>
            <a:ext cx="0" cy="1034727"/>
          </a:xfrm>
          <a:prstGeom prst="line">
            <a:avLst/>
          </a:prstGeom>
          <a:noFill/>
          <a:ln w="12700">
            <a:solidFill>
              <a:srgbClr val="C9D6E4"/>
            </a:solidFill>
            <a:prstDash val="solid"/>
          </a:ln>
        </p:spPr>
      </p:sp>
      <p:sp>
        <p:nvSpPr>
          <p:cNvPr id="45" name="Panel 2 body"/>
          <p:cNvSpPr/>
          <p:nvPr/>
        </p:nvSpPr>
        <p:spPr>
          <a:xfrm>
            <a:off x="4976801" y="1105049"/>
            <a:ext cx="7131827" cy="4199186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46" name="Panel 2 header"/>
          <p:cNvSpPr/>
          <p:nvPr/>
        </p:nvSpPr>
        <p:spPr>
          <a:xfrm>
            <a:off x="4988706" y="1115095"/>
            <a:ext cx="7108014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47" name="Panel 2 badge"/>
          <p:cNvSpPr/>
          <p:nvPr/>
        </p:nvSpPr>
        <p:spPr>
          <a:xfrm>
            <a:off x="5048239" y="1061518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Panel 2 number"/>
          <p:cNvSpPr txBox="1"/>
          <p:nvPr/>
        </p:nvSpPr>
        <p:spPr>
          <a:xfrm>
            <a:off x="5048239" y="1095003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Panel 2 title"/>
          <p:cNvSpPr txBox="1"/>
          <p:nvPr/>
        </p:nvSpPr>
        <p:spPr>
          <a:xfrm>
            <a:off x="5714986" y="1115095"/>
            <a:ext cx="6298391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Inside the Device (Hardware View)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Badge 1"/>
          <p:cNvSpPr/>
          <p:nvPr/>
        </p:nvSpPr>
        <p:spPr>
          <a:xfrm>
            <a:off x="5155394" y="1653482"/>
            <a:ext cx="309561" cy="309561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"/>
          <p:cNvSpPr txBox="1"/>
          <p:nvPr/>
        </p:nvSpPr>
        <p:spPr>
          <a:xfrm>
            <a:off x="5155394" y="1677665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"/>
          <p:cNvSpPr txBox="1"/>
          <p:nvPr/>
        </p:nvSpPr>
        <p:spPr>
          <a:xfrm>
            <a:off x="5595925" y="1667619"/>
            <a:ext cx="2262182" cy="22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5CA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Water Inlet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"/>
          <p:cNvSpPr txBox="1"/>
          <p:nvPr/>
        </p:nvSpPr>
        <p:spPr>
          <a:xfrm>
            <a:off x="5595925" y="1868537"/>
            <a:ext cx="2262182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(Sample Collection)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Badge 2"/>
          <p:cNvSpPr/>
          <p:nvPr/>
        </p:nvSpPr>
        <p:spPr>
          <a:xfrm>
            <a:off x="5155394" y="2427015"/>
            <a:ext cx="309561" cy="309561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"/>
          <p:cNvSpPr txBox="1"/>
          <p:nvPr/>
        </p:nvSpPr>
        <p:spPr>
          <a:xfrm>
            <a:off x="5155394" y="2451200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"/>
          <p:cNvSpPr txBox="1"/>
          <p:nvPr/>
        </p:nvSpPr>
        <p:spPr>
          <a:xfrm>
            <a:off x="5595925" y="2441154"/>
            <a:ext cx="2262182" cy="22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5CA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Filter Chamber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"/>
          <p:cNvSpPr txBox="1"/>
          <p:nvPr/>
        </p:nvSpPr>
        <p:spPr>
          <a:xfrm>
            <a:off x="5595925" y="2632027"/>
            <a:ext cx="2262182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(with 0.45 μm filter)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Badge 3"/>
          <p:cNvSpPr/>
          <p:nvPr/>
        </p:nvSpPr>
        <p:spPr>
          <a:xfrm>
            <a:off x="5155394" y="3290963"/>
            <a:ext cx="309561" cy="309561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"/>
          <p:cNvSpPr txBox="1"/>
          <p:nvPr/>
        </p:nvSpPr>
        <p:spPr>
          <a:xfrm>
            <a:off x="5155394" y="3315148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"/>
          <p:cNvSpPr txBox="1"/>
          <p:nvPr/>
        </p:nvSpPr>
        <p:spPr>
          <a:xfrm>
            <a:off x="5512581" y="3244822"/>
            <a:ext cx="1904994" cy="21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5CA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Optical Chamber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"/>
          <p:cNvSpPr txBox="1"/>
          <p:nvPr/>
        </p:nvSpPr>
        <p:spPr>
          <a:xfrm>
            <a:off x="5595925" y="3506020"/>
            <a:ext cx="2262182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(LED Illumination)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Badge 4"/>
          <p:cNvSpPr/>
          <p:nvPr/>
        </p:nvSpPr>
        <p:spPr>
          <a:xfrm>
            <a:off x="5155394" y="4064496"/>
            <a:ext cx="309561" cy="309561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"/>
          <p:cNvSpPr txBox="1"/>
          <p:nvPr/>
        </p:nvSpPr>
        <p:spPr>
          <a:xfrm>
            <a:off x="5155394" y="4088681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"/>
          <p:cNvSpPr txBox="1"/>
          <p:nvPr/>
        </p:nvSpPr>
        <p:spPr>
          <a:xfrm>
            <a:off x="5595925" y="4078635"/>
            <a:ext cx="1654962" cy="29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5CA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"/>
          <p:cNvSpPr txBox="1"/>
          <p:nvPr/>
        </p:nvSpPr>
        <p:spPr>
          <a:xfrm>
            <a:off x="5595925" y="4580928"/>
            <a:ext cx="2262182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(High Resolution)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Badge 5"/>
          <p:cNvSpPr/>
          <p:nvPr/>
        </p:nvSpPr>
        <p:spPr>
          <a:xfrm>
            <a:off x="9792865" y="1667619"/>
            <a:ext cx="309561" cy="309561"/>
          </a:xfrm>
          <a:prstGeom prst="ellipse">
            <a:avLst/>
          </a:prstGeom>
          <a:solidFill>
            <a:srgbClr val="1AA0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"/>
          <p:cNvSpPr txBox="1"/>
          <p:nvPr/>
        </p:nvSpPr>
        <p:spPr>
          <a:xfrm>
            <a:off x="9775007" y="1693664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"/>
          <p:cNvSpPr txBox="1"/>
          <p:nvPr/>
        </p:nvSpPr>
        <p:spPr>
          <a:xfrm>
            <a:off x="10230775" y="1667619"/>
            <a:ext cx="1785933" cy="20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A0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ESP32 Controller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"/>
          <p:cNvSpPr txBox="1"/>
          <p:nvPr/>
        </p:nvSpPr>
        <p:spPr>
          <a:xfrm>
            <a:off x="10215535" y="2057937"/>
            <a:ext cx="1666871" cy="40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(Data Processing &amp;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Communication)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Badge 6"/>
          <p:cNvSpPr/>
          <p:nvPr/>
        </p:nvSpPr>
        <p:spPr>
          <a:xfrm>
            <a:off x="9792865" y="2588682"/>
            <a:ext cx="309561" cy="309561"/>
          </a:xfrm>
          <a:prstGeom prst="ellipse">
            <a:avLst/>
          </a:prstGeom>
          <a:solidFill>
            <a:srgbClr val="6B2F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"/>
          <p:cNvSpPr txBox="1"/>
          <p:nvPr/>
        </p:nvSpPr>
        <p:spPr>
          <a:xfrm>
            <a:off x="9795460" y="2629151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"/>
          <p:cNvSpPr txBox="1"/>
          <p:nvPr/>
        </p:nvSpPr>
        <p:spPr>
          <a:xfrm>
            <a:off x="10257210" y="2537199"/>
            <a:ext cx="2470542" cy="4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6B2FA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Proposed PFAS Sensor Module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"/>
          <p:cNvSpPr txBox="1"/>
          <p:nvPr/>
        </p:nvSpPr>
        <p:spPr>
          <a:xfrm>
            <a:off x="10257210" y="3164455"/>
            <a:ext cx="15478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(PFOA + PFOS)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"/>
          <p:cNvSpPr txBox="1"/>
          <p:nvPr/>
        </p:nvSpPr>
        <p:spPr>
          <a:xfrm>
            <a:off x="10102426" y="3354071"/>
            <a:ext cx="2262182" cy="371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(Target-specific sensing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cartridge + signal reader)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Badge 7"/>
          <p:cNvSpPr/>
          <p:nvPr/>
        </p:nvSpPr>
        <p:spPr>
          <a:xfrm>
            <a:off x="9712497" y="3857865"/>
            <a:ext cx="309561" cy="309561"/>
          </a:xfrm>
          <a:prstGeom prst="ellipse">
            <a:avLst/>
          </a:prstGeom>
          <a:solidFill>
            <a:srgbClr val="F29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text"/>
          <p:cNvSpPr txBox="1"/>
          <p:nvPr/>
        </p:nvSpPr>
        <p:spPr>
          <a:xfrm>
            <a:off x="9739287" y="3853041"/>
            <a:ext cx="309561" cy="26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"/>
          <p:cNvSpPr txBox="1"/>
          <p:nvPr/>
        </p:nvSpPr>
        <p:spPr>
          <a:xfrm>
            <a:off x="10156006" y="3878647"/>
            <a:ext cx="1750215" cy="371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F29A1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Battery &amp; Power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29A1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"/>
          <p:cNvSpPr txBox="1"/>
          <p:nvPr/>
        </p:nvSpPr>
        <p:spPr>
          <a:xfrm>
            <a:off x="10179822" y="4517261"/>
            <a:ext cx="1741639" cy="22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(Rechargeable Li-ion)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pin"/>
          <p:cNvSpPr/>
          <p:nvPr/>
        </p:nvSpPr>
        <p:spPr>
          <a:xfrm>
            <a:off x="8620104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04" name="pin"/>
          <p:cNvSpPr/>
          <p:nvPr/>
        </p:nvSpPr>
        <p:spPr>
          <a:xfrm>
            <a:off x="8620104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05" name="pin"/>
          <p:cNvSpPr/>
          <p:nvPr/>
        </p:nvSpPr>
        <p:spPr>
          <a:xfrm>
            <a:off x="8679635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06" name="pin"/>
          <p:cNvSpPr/>
          <p:nvPr/>
        </p:nvSpPr>
        <p:spPr>
          <a:xfrm>
            <a:off x="8679635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07" name="pin"/>
          <p:cNvSpPr/>
          <p:nvPr/>
        </p:nvSpPr>
        <p:spPr>
          <a:xfrm>
            <a:off x="8739165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09" name="pin"/>
          <p:cNvSpPr/>
          <p:nvPr/>
        </p:nvSpPr>
        <p:spPr>
          <a:xfrm>
            <a:off x="8798697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1" name="pin"/>
          <p:cNvSpPr/>
          <p:nvPr/>
        </p:nvSpPr>
        <p:spPr>
          <a:xfrm>
            <a:off x="8858228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2" name="pin"/>
          <p:cNvSpPr/>
          <p:nvPr/>
        </p:nvSpPr>
        <p:spPr>
          <a:xfrm>
            <a:off x="8858228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3" name="pin"/>
          <p:cNvSpPr/>
          <p:nvPr/>
        </p:nvSpPr>
        <p:spPr>
          <a:xfrm>
            <a:off x="8917760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4" name="pin"/>
          <p:cNvSpPr/>
          <p:nvPr/>
        </p:nvSpPr>
        <p:spPr>
          <a:xfrm>
            <a:off x="8917760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5" name="pin"/>
          <p:cNvSpPr/>
          <p:nvPr/>
        </p:nvSpPr>
        <p:spPr>
          <a:xfrm>
            <a:off x="8977290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6" name="pin"/>
          <p:cNvSpPr/>
          <p:nvPr/>
        </p:nvSpPr>
        <p:spPr>
          <a:xfrm>
            <a:off x="8977290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7" name="pin"/>
          <p:cNvSpPr/>
          <p:nvPr/>
        </p:nvSpPr>
        <p:spPr>
          <a:xfrm>
            <a:off x="9036821" y="2531567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18" name="pin"/>
          <p:cNvSpPr/>
          <p:nvPr/>
        </p:nvSpPr>
        <p:spPr>
          <a:xfrm>
            <a:off x="9036821" y="2169914"/>
            <a:ext cx="35718" cy="40184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26" name="Battery marker"/>
          <p:cNvSpPr/>
          <p:nvPr/>
        </p:nvSpPr>
        <p:spPr>
          <a:xfrm>
            <a:off x="9036821" y="4561583"/>
            <a:ext cx="119063" cy="119063"/>
          </a:xfrm>
          <a:prstGeom prst="ellipse">
            <a:avLst/>
          </a:prstGeom>
          <a:solidFill>
            <a:srgbClr val="F29A1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30" name="Connector dot"/>
          <p:cNvSpPr/>
          <p:nvPr/>
        </p:nvSpPr>
        <p:spPr>
          <a:xfrm>
            <a:off x="7477107" y="1599903"/>
            <a:ext cx="95250" cy="95250"/>
          </a:xfrm>
          <a:prstGeom prst="ellipse">
            <a:avLst/>
          </a:prstGeom>
          <a:solidFill>
            <a:srgbClr val="2E7B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Connector dot"/>
          <p:cNvSpPr/>
          <p:nvPr/>
        </p:nvSpPr>
        <p:spPr>
          <a:xfrm>
            <a:off x="7429482" y="2534171"/>
            <a:ext cx="95250" cy="95250"/>
          </a:xfrm>
          <a:prstGeom prst="ellipse">
            <a:avLst/>
          </a:prstGeom>
          <a:solidFill>
            <a:srgbClr val="2E7B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Connector dot"/>
          <p:cNvSpPr/>
          <p:nvPr/>
        </p:nvSpPr>
        <p:spPr>
          <a:xfrm>
            <a:off x="7310420" y="3398118"/>
            <a:ext cx="95250" cy="95250"/>
          </a:xfrm>
          <a:prstGeom prst="ellipse">
            <a:avLst/>
          </a:prstGeom>
          <a:solidFill>
            <a:srgbClr val="1AA3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3" name="Connector dot"/>
          <p:cNvSpPr/>
          <p:nvPr/>
        </p:nvSpPr>
        <p:spPr>
          <a:xfrm>
            <a:off x="7393763" y="3890367"/>
            <a:ext cx="95250" cy="95250"/>
          </a:xfrm>
          <a:prstGeom prst="ellipse">
            <a:avLst/>
          </a:prstGeom>
          <a:solidFill>
            <a:srgbClr val="6B2FA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4" name="Connector dot"/>
          <p:cNvSpPr/>
          <p:nvPr/>
        </p:nvSpPr>
        <p:spPr>
          <a:xfrm>
            <a:off x="9298758" y="2283024"/>
            <a:ext cx="95250" cy="95250"/>
          </a:xfrm>
          <a:prstGeom prst="ellipse">
            <a:avLst/>
          </a:prstGeom>
          <a:solidFill>
            <a:srgbClr val="1AA0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5" name="Connector dot"/>
          <p:cNvSpPr/>
          <p:nvPr/>
        </p:nvSpPr>
        <p:spPr>
          <a:xfrm>
            <a:off x="9203508" y="3187155"/>
            <a:ext cx="95250" cy="95250"/>
          </a:xfrm>
          <a:prstGeom prst="ellipse">
            <a:avLst/>
          </a:prstGeom>
          <a:solidFill>
            <a:srgbClr val="6B2FA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6" name="Connector dot"/>
          <p:cNvSpPr/>
          <p:nvPr/>
        </p:nvSpPr>
        <p:spPr>
          <a:xfrm>
            <a:off x="9072540" y="4573488"/>
            <a:ext cx="95250" cy="95250"/>
          </a:xfrm>
          <a:prstGeom prst="ellipse">
            <a:avLst/>
          </a:prstGeom>
          <a:solidFill>
            <a:srgbClr val="F29A1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7" name="Panel 3 body"/>
          <p:cNvSpPr/>
          <p:nvPr/>
        </p:nvSpPr>
        <p:spPr>
          <a:xfrm>
            <a:off x="12251501" y="1105049"/>
            <a:ext cx="5738798" cy="4199186"/>
          </a:xfrm>
          <a:prstGeom prst="roundRect">
            <a:avLst>
              <a:gd name="adj" fmla="val 1633"/>
            </a:avLst>
          </a:prstGeom>
          <a:solidFill>
            <a:srgbClr val="F7FBFF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138" name="Panel 3 header"/>
          <p:cNvSpPr/>
          <p:nvPr/>
        </p:nvSpPr>
        <p:spPr>
          <a:xfrm>
            <a:off x="12263408" y="1115095"/>
            <a:ext cx="5714985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139" name="Panel 3 badge"/>
          <p:cNvSpPr/>
          <p:nvPr/>
        </p:nvSpPr>
        <p:spPr>
          <a:xfrm>
            <a:off x="12322939" y="1061518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0" name="Panel 3 number"/>
          <p:cNvSpPr txBox="1"/>
          <p:nvPr/>
        </p:nvSpPr>
        <p:spPr>
          <a:xfrm>
            <a:off x="12322939" y="1095003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Panel 3 title"/>
          <p:cNvSpPr txBox="1"/>
          <p:nvPr/>
        </p:nvSpPr>
        <p:spPr>
          <a:xfrm>
            <a:off x="12989687" y="1115095"/>
            <a:ext cx="4905363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 Modules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Module A body"/>
          <p:cNvSpPr/>
          <p:nvPr/>
        </p:nvSpPr>
        <p:spPr>
          <a:xfrm>
            <a:off x="12358657" y="1506886"/>
            <a:ext cx="5619737" cy="1979042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9050">
            <a:solidFill>
              <a:srgbClr val="1AA37A"/>
            </a:solidFill>
            <a:prstDash val="solid"/>
          </a:ln>
        </p:spPr>
      </p:sp>
      <p:sp>
        <p:nvSpPr>
          <p:cNvPr id="143" name="Module A header"/>
          <p:cNvSpPr/>
          <p:nvPr/>
        </p:nvSpPr>
        <p:spPr>
          <a:xfrm>
            <a:off x="12370563" y="1516931"/>
            <a:ext cx="5595924" cy="271239"/>
          </a:xfrm>
          <a:prstGeom prst="roundRect">
            <a:avLst>
              <a:gd name="adj" fmla="val 15170"/>
            </a:avLst>
          </a:prstGeom>
          <a:solidFill>
            <a:srgbClr val="1AA37A"/>
          </a:solidFill>
          <a:ln/>
        </p:spPr>
      </p:sp>
      <p:sp>
        <p:nvSpPr>
          <p:cNvPr id="144" name="text"/>
          <p:cNvSpPr txBox="1"/>
          <p:nvPr/>
        </p:nvSpPr>
        <p:spPr>
          <a:xfrm>
            <a:off x="12525344" y="1516931"/>
            <a:ext cx="5238737" cy="271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A.  Microplastic Detection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Filtered icon" descr="Filtered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92031" y="1983879"/>
            <a:ext cx="452436" cy="452436"/>
          </a:xfrm>
          <a:prstGeom prst="rect">
            <a:avLst/>
          </a:prstGeom>
        </p:spPr>
      </p:pic>
      <p:pic>
        <p:nvPicPr>
          <p:cNvPr id="146" name="Camera icon" descr="Camera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70746" y="1983879"/>
            <a:ext cx="452436" cy="452436"/>
          </a:xfrm>
          <a:prstGeom prst="rect">
            <a:avLst/>
          </a:prstGeom>
        </p:spPr>
      </p:pic>
      <p:pic>
        <p:nvPicPr>
          <p:cNvPr id="147" name="LED icon" descr="LED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61368" y="1983879"/>
            <a:ext cx="452436" cy="452436"/>
          </a:xfrm>
          <a:prstGeom prst="rect">
            <a:avLst/>
          </a:prstGeom>
        </p:spPr>
      </p:pic>
      <p:pic>
        <p:nvPicPr>
          <p:cNvPr id="148" name="AI/ML icon" descr="AI/ML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16272" y="1983879"/>
            <a:ext cx="452436" cy="452436"/>
          </a:xfrm>
          <a:prstGeom prst="rect">
            <a:avLst/>
          </a:prstGeom>
        </p:spPr>
      </p:pic>
      <p:sp>
        <p:nvSpPr>
          <p:cNvPr id="149" name="text"/>
          <p:cNvSpPr txBox="1"/>
          <p:nvPr/>
        </p:nvSpPr>
        <p:spPr>
          <a:xfrm>
            <a:off x="12501531" y="2471291"/>
            <a:ext cx="833436" cy="48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Filtered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Sample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(0.45 μm)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"/>
          <p:cNvSpPr txBox="1"/>
          <p:nvPr/>
        </p:nvSpPr>
        <p:spPr>
          <a:xfrm>
            <a:off x="13584998" y="2511474"/>
            <a:ext cx="1023935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(High Resolution)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"/>
          <p:cNvSpPr txBox="1"/>
          <p:nvPr/>
        </p:nvSpPr>
        <p:spPr>
          <a:xfrm>
            <a:off x="14716088" y="2471291"/>
            <a:ext cx="1142997" cy="48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LED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Illumination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(White / Optional UV)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"/>
          <p:cNvSpPr txBox="1"/>
          <p:nvPr/>
        </p:nvSpPr>
        <p:spPr>
          <a:xfrm>
            <a:off x="16025772" y="2511474"/>
            <a:ext cx="833436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AI/ML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Analysis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arrow"/>
          <p:cNvSpPr/>
          <p:nvPr/>
        </p:nvSpPr>
        <p:spPr>
          <a:xfrm>
            <a:off x="13323061" y="2230190"/>
            <a:ext cx="261938" cy="0"/>
          </a:xfrm>
          <a:prstGeom prst="line">
            <a:avLst/>
          </a:prstGeom>
          <a:noFill/>
          <a:ln w="19050">
            <a:solidFill>
              <a:srgbClr val="1AA37A"/>
            </a:solidFill>
            <a:prstDash val="solid"/>
            <a:tailEnd type="triangle"/>
          </a:ln>
        </p:spPr>
      </p:sp>
      <p:sp>
        <p:nvSpPr>
          <p:cNvPr id="154" name="arrow"/>
          <p:cNvSpPr/>
          <p:nvPr/>
        </p:nvSpPr>
        <p:spPr>
          <a:xfrm>
            <a:off x="14561308" y="2230190"/>
            <a:ext cx="261938" cy="0"/>
          </a:xfrm>
          <a:prstGeom prst="line">
            <a:avLst/>
          </a:prstGeom>
          <a:noFill/>
          <a:ln w="19050">
            <a:solidFill>
              <a:srgbClr val="1AA37A"/>
            </a:solidFill>
            <a:prstDash val="solid"/>
            <a:tailEnd type="triangle"/>
          </a:ln>
        </p:spPr>
      </p:sp>
      <p:sp>
        <p:nvSpPr>
          <p:cNvPr id="155" name="arrow"/>
          <p:cNvSpPr/>
          <p:nvPr/>
        </p:nvSpPr>
        <p:spPr>
          <a:xfrm>
            <a:off x="15751930" y="2230190"/>
            <a:ext cx="261938" cy="0"/>
          </a:xfrm>
          <a:prstGeom prst="line">
            <a:avLst/>
          </a:prstGeom>
          <a:noFill/>
          <a:ln w="19050">
            <a:solidFill>
              <a:srgbClr val="1AA37A"/>
            </a:solidFill>
            <a:prstDash val="solid"/>
            <a:tailEnd type="triangle"/>
          </a:ln>
        </p:spPr>
      </p:sp>
      <p:sp>
        <p:nvSpPr>
          <p:cNvPr id="156" name="Microscope image tile"/>
          <p:cNvSpPr/>
          <p:nvPr/>
        </p:nvSpPr>
        <p:spPr>
          <a:xfrm>
            <a:off x="17085427" y="1888630"/>
            <a:ext cx="809624" cy="703214"/>
          </a:xfrm>
          <a:prstGeom prst="roundRect">
            <a:avLst>
              <a:gd name="adj" fmla="val 7802"/>
            </a:avLst>
          </a:prstGeom>
          <a:solidFill>
            <a:srgbClr val="120F1C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7" name="Particle"/>
          <p:cNvSpPr/>
          <p:nvPr/>
        </p:nvSpPr>
        <p:spPr>
          <a:xfrm>
            <a:off x="17233064" y="2028454"/>
            <a:ext cx="61913" cy="61913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58" name="Particle"/>
          <p:cNvSpPr/>
          <p:nvPr/>
        </p:nvSpPr>
        <p:spPr>
          <a:xfrm>
            <a:off x="17471188" y="1958132"/>
            <a:ext cx="61913" cy="61913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59" name="Particle"/>
          <p:cNvSpPr/>
          <p:nvPr/>
        </p:nvSpPr>
        <p:spPr>
          <a:xfrm>
            <a:off x="17685500" y="2118866"/>
            <a:ext cx="61913" cy="61913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160" name="Particle"/>
          <p:cNvSpPr/>
          <p:nvPr/>
        </p:nvSpPr>
        <p:spPr>
          <a:xfrm>
            <a:off x="17352127" y="2229371"/>
            <a:ext cx="61913" cy="61913"/>
          </a:xfrm>
          <a:prstGeom prst="ellipse">
            <a:avLst/>
          </a:prstGeom>
          <a:solidFill>
            <a:srgbClr val="AB47BC"/>
          </a:solidFill>
          <a:ln/>
        </p:spPr>
      </p:sp>
      <p:sp>
        <p:nvSpPr>
          <p:cNvPr id="161" name="Particle"/>
          <p:cNvSpPr/>
          <p:nvPr/>
        </p:nvSpPr>
        <p:spPr>
          <a:xfrm>
            <a:off x="17566438" y="2359969"/>
            <a:ext cx="61913" cy="61913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62" name="Particle"/>
          <p:cNvSpPr/>
          <p:nvPr/>
        </p:nvSpPr>
        <p:spPr>
          <a:xfrm>
            <a:off x="17756938" y="2259509"/>
            <a:ext cx="61913" cy="61913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3" name="Particle"/>
          <p:cNvSpPr/>
          <p:nvPr/>
        </p:nvSpPr>
        <p:spPr>
          <a:xfrm>
            <a:off x="17185439" y="2380060"/>
            <a:ext cx="61913" cy="61913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164" name="Particle"/>
          <p:cNvSpPr/>
          <p:nvPr/>
        </p:nvSpPr>
        <p:spPr>
          <a:xfrm>
            <a:off x="17423563" y="2440336"/>
            <a:ext cx="61913" cy="61913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65" name="Module A output bar"/>
          <p:cNvSpPr/>
          <p:nvPr/>
        </p:nvSpPr>
        <p:spPr>
          <a:xfrm>
            <a:off x="12496800" y="3124275"/>
            <a:ext cx="5417330" cy="281285"/>
          </a:xfrm>
          <a:prstGeom prst="roundRect">
            <a:avLst>
              <a:gd name="adj" fmla="val 24381"/>
            </a:avLst>
          </a:prstGeom>
          <a:solidFill>
            <a:srgbClr val="D5F2E7"/>
          </a:solidFill>
          <a:ln w="12700">
            <a:solidFill>
              <a:srgbClr val="1AA37A"/>
            </a:solidFill>
            <a:prstDash val="solid"/>
          </a:ln>
        </p:spPr>
      </p:sp>
      <p:sp>
        <p:nvSpPr>
          <p:cNvPr id="166" name="text"/>
          <p:cNvSpPr txBox="1"/>
          <p:nvPr/>
        </p:nvSpPr>
        <p:spPr>
          <a:xfrm>
            <a:off x="12385849" y="3124275"/>
            <a:ext cx="5417330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Output: </a:t>
            </a:r>
            <a:r>
              <a:rPr lang="en-US" sz="1400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Microplastic count, size (approx.), and type (candidate)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Module B body"/>
          <p:cNvSpPr/>
          <p:nvPr/>
        </p:nvSpPr>
        <p:spPr>
          <a:xfrm>
            <a:off x="12358657" y="3516065"/>
            <a:ext cx="5619737" cy="1727895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7B3FC4"/>
            </a:solidFill>
            <a:prstDash val="solid"/>
          </a:ln>
        </p:spPr>
      </p:sp>
      <p:sp>
        <p:nvSpPr>
          <p:cNvPr id="168" name="Module B header"/>
          <p:cNvSpPr/>
          <p:nvPr/>
        </p:nvSpPr>
        <p:spPr>
          <a:xfrm>
            <a:off x="12370563" y="3526110"/>
            <a:ext cx="5595924" cy="251148"/>
          </a:xfrm>
          <a:prstGeom prst="roundRect">
            <a:avLst>
              <a:gd name="adj" fmla="val 16384"/>
            </a:avLst>
          </a:prstGeom>
          <a:solidFill>
            <a:srgbClr val="7B3FC4"/>
          </a:solidFill>
          <a:ln/>
        </p:spPr>
      </p:sp>
      <p:sp>
        <p:nvSpPr>
          <p:cNvPr id="169" name="text"/>
          <p:cNvSpPr txBox="1"/>
          <p:nvPr/>
        </p:nvSpPr>
        <p:spPr>
          <a:xfrm>
            <a:off x="12525344" y="3526110"/>
            <a:ext cx="5238737" cy="25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B.  PFAS Detection Module (Proposed)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0" name="PFAS cartridge icon" descr="PFAS cartridg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23000" y="3880694"/>
            <a:ext cx="476249" cy="476249"/>
          </a:xfrm>
          <a:prstGeom prst="rect">
            <a:avLst/>
          </a:prstGeom>
        </p:spPr>
      </p:pic>
      <p:pic>
        <p:nvPicPr>
          <p:cNvPr id="171" name="Signal reader icon" descr="Signal reader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87465" y="3880694"/>
            <a:ext cx="476249" cy="476249"/>
          </a:xfrm>
          <a:prstGeom prst="rect">
            <a:avLst/>
          </a:prstGeom>
        </p:spPr>
      </p:pic>
      <p:pic>
        <p:nvPicPr>
          <p:cNvPr id="172" name="Data processing icon" descr="Data processing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56680" y="3880694"/>
            <a:ext cx="476249" cy="476249"/>
          </a:xfrm>
          <a:prstGeom prst="rect">
            <a:avLst/>
          </a:prstGeom>
        </p:spPr>
      </p:pic>
      <p:pic>
        <p:nvPicPr>
          <p:cNvPr id="173" name="Result icon" descr="Resul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54459" y="3880694"/>
            <a:ext cx="476249" cy="476249"/>
          </a:xfrm>
          <a:prstGeom prst="rect">
            <a:avLst/>
          </a:prstGeom>
        </p:spPr>
      </p:pic>
      <p:pic>
        <p:nvPicPr>
          <p:cNvPr id="174" name="Molecule icon" descr="Molecul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549769" y="3913808"/>
            <a:ext cx="309561" cy="309561"/>
          </a:xfrm>
          <a:prstGeom prst="rect">
            <a:avLst/>
          </a:prstGeom>
        </p:spPr>
      </p:pic>
      <p:sp>
        <p:nvSpPr>
          <p:cNvPr id="175" name="text"/>
          <p:cNvSpPr txBox="1"/>
          <p:nvPr/>
        </p:nvSpPr>
        <p:spPr>
          <a:xfrm>
            <a:off x="12465813" y="4420196"/>
            <a:ext cx="1190622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PFAS Cartridge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(PFOA + PFOS)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(Target-specific)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"/>
          <p:cNvSpPr txBox="1"/>
          <p:nvPr/>
        </p:nvSpPr>
        <p:spPr>
          <a:xfrm>
            <a:off x="13918372" y="4420196"/>
            <a:ext cx="1309685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Signal Reader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(Electrochemical /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(Optical / MIP-based)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text"/>
          <p:cNvSpPr txBox="1"/>
          <p:nvPr/>
        </p:nvSpPr>
        <p:spPr>
          <a:xfrm>
            <a:off x="15382837" y="4420196"/>
            <a:ext cx="1071560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Processing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&amp; Calibration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"/>
          <p:cNvSpPr txBox="1"/>
          <p:nvPr/>
        </p:nvSpPr>
        <p:spPr>
          <a:xfrm>
            <a:off x="16656803" y="4420196"/>
            <a:ext cx="1071560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Result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(Estimated Range /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Screening)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arrow"/>
          <p:cNvSpPr/>
          <p:nvPr/>
        </p:nvSpPr>
        <p:spPr>
          <a:xfrm>
            <a:off x="13715966" y="4138910"/>
            <a:ext cx="273843" cy="0"/>
          </a:xfrm>
          <a:prstGeom prst="line">
            <a:avLst/>
          </a:prstGeom>
          <a:noFill/>
          <a:ln w="19050">
            <a:solidFill>
              <a:srgbClr val="7B3FC4"/>
            </a:solidFill>
            <a:prstDash val="solid"/>
            <a:tailEnd type="triangle"/>
          </a:ln>
        </p:spPr>
      </p:sp>
      <p:sp>
        <p:nvSpPr>
          <p:cNvPr id="180" name="arrow"/>
          <p:cNvSpPr/>
          <p:nvPr/>
        </p:nvSpPr>
        <p:spPr>
          <a:xfrm>
            <a:off x="15180431" y="4138910"/>
            <a:ext cx="261938" cy="0"/>
          </a:xfrm>
          <a:prstGeom prst="line">
            <a:avLst/>
          </a:prstGeom>
          <a:noFill/>
          <a:ln w="19050">
            <a:solidFill>
              <a:srgbClr val="7B3FC4"/>
            </a:solidFill>
            <a:prstDash val="solid"/>
            <a:tailEnd type="triangle"/>
          </a:ln>
        </p:spPr>
      </p:sp>
      <p:sp>
        <p:nvSpPr>
          <p:cNvPr id="181" name="arrow"/>
          <p:cNvSpPr/>
          <p:nvPr/>
        </p:nvSpPr>
        <p:spPr>
          <a:xfrm>
            <a:off x="16430585" y="4138910"/>
            <a:ext cx="273843" cy="0"/>
          </a:xfrm>
          <a:prstGeom prst="line">
            <a:avLst/>
          </a:prstGeom>
          <a:noFill/>
          <a:ln w="19050">
            <a:solidFill>
              <a:srgbClr val="7B3FC4"/>
            </a:solidFill>
            <a:prstDash val="solid"/>
            <a:tailEnd type="triangle"/>
          </a:ln>
        </p:spPr>
      </p:sp>
      <p:sp>
        <p:nvSpPr>
          <p:cNvPr id="182" name="Module B output bar"/>
          <p:cNvSpPr/>
          <p:nvPr/>
        </p:nvSpPr>
        <p:spPr>
          <a:xfrm>
            <a:off x="12477719" y="4992812"/>
            <a:ext cx="5417330" cy="231056"/>
          </a:xfrm>
          <a:prstGeom prst="roundRect">
            <a:avLst>
              <a:gd name="adj" fmla="val 29681"/>
            </a:avLst>
          </a:prstGeom>
          <a:solidFill>
            <a:srgbClr val="EADFF7"/>
          </a:solidFill>
          <a:ln w="12700">
            <a:solidFill>
              <a:srgbClr val="7B3FC4"/>
            </a:solidFill>
            <a:prstDash val="solid"/>
          </a:ln>
        </p:spPr>
      </p:sp>
      <p:sp>
        <p:nvSpPr>
          <p:cNvPr id="183" name="text"/>
          <p:cNvSpPr txBox="1"/>
          <p:nvPr/>
        </p:nvSpPr>
        <p:spPr>
          <a:xfrm>
            <a:off x="12477719" y="4992812"/>
            <a:ext cx="5417330" cy="23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4A1F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Output: PFOA &amp; PFOS – Present / Not Present + Estimated Range (Low/Medium/High)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Panel 4 body"/>
          <p:cNvSpPr/>
          <p:nvPr/>
        </p:nvSpPr>
        <p:spPr>
          <a:xfrm>
            <a:off x="154781" y="5475016"/>
            <a:ext cx="8798697" cy="1657574"/>
          </a:xfrm>
          <a:prstGeom prst="roundRect">
            <a:avLst>
              <a:gd name="adj" fmla="val 4137"/>
            </a:avLst>
          </a:prstGeom>
          <a:solidFill>
            <a:srgbClr val="F7FBFF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185" name="Panel 4 header"/>
          <p:cNvSpPr/>
          <p:nvPr/>
        </p:nvSpPr>
        <p:spPr>
          <a:xfrm>
            <a:off x="166688" y="5485061"/>
            <a:ext cx="8774885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186" name="Panel 4 badge"/>
          <p:cNvSpPr/>
          <p:nvPr/>
        </p:nvSpPr>
        <p:spPr>
          <a:xfrm>
            <a:off x="226219" y="5431484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7" name="Panel 4 number"/>
          <p:cNvSpPr txBox="1"/>
          <p:nvPr/>
        </p:nvSpPr>
        <p:spPr>
          <a:xfrm>
            <a:off x="226219" y="5464970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Panel 4 title"/>
          <p:cNvSpPr txBox="1"/>
          <p:nvPr/>
        </p:nvSpPr>
        <p:spPr>
          <a:xfrm>
            <a:off x="892967" y="5485061"/>
            <a:ext cx="7965261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Flow card"/>
          <p:cNvSpPr/>
          <p:nvPr/>
        </p:nvSpPr>
        <p:spPr>
          <a:xfrm>
            <a:off x="345281" y="5896943"/>
            <a:ext cx="1404935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190" name="Water Sample icon" descr="Water Sample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624" y="5990333"/>
            <a:ext cx="476249" cy="476249"/>
          </a:xfrm>
          <a:prstGeom prst="rect">
            <a:avLst/>
          </a:prstGeom>
        </p:spPr>
      </p:pic>
      <p:sp>
        <p:nvSpPr>
          <p:cNvPr id="191" name="text"/>
          <p:cNvSpPr txBox="1"/>
          <p:nvPr/>
        </p:nvSpPr>
        <p:spPr>
          <a:xfrm>
            <a:off x="369094" y="6479604"/>
            <a:ext cx="1357310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Water Sample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Flow card"/>
          <p:cNvSpPr/>
          <p:nvPr/>
        </p:nvSpPr>
        <p:spPr>
          <a:xfrm>
            <a:off x="2024058" y="5896943"/>
            <a:ext cx="1154904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193" name="Filtration icon" descr="Filtration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63386" y="5990333"/>
            <a:ext cx="476249" cy="476249"/>
          </a:xfrm>
          <a:prstGeom prst="rect">
            <a:avLst/>
          </a:prstGeom>
        </p:spPr>
      </p:pic>
      <p:sp>
        <p:nvSpPr>
          <p:cNvPr id="194" name="text"/>
          <p:cNvSpPr txBox="1"/>
          <p:nvPr/>
        </p:nvSpPr>
        <p:spPr>
          <a:xfrm>
            <a:off x="2047871" y="6479604"/>
            <a:ext cx="1107279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Filtration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(0.45 μm)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Flow card"/>
          <p:cNvSpPr/>
          <p:nvPr/>
        </p:nvSpPr>
        <p:spPr>
          <a:xfrm>
            <a:off x="3452804" y="5896943"/>
            <a:ext cx="1214435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196" name="Imaging icon" descr="Imaging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21897" y="5990333"/>
            <a:ext cx="476249" cy="476249"/>
          </a:xfrm>
          <a:prstGeom prst="rect">
            <a:avLst/>
          </a:prstGeom>
        </p:spPr>
      </p:pic>
      <p:sp>
        <p:nvSpPr>
          <p:cNvPr id="197" name="text"/>
          <p:cNvSpPr txBox="1"/>
          <p:nvPr/>
        </p:nvSpPr>
        <p:spPr>
          <a:xfrm>
            <a:off x="3476617" y="6479604"/>
            <a:ext cx="1166810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&amp; Sensing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Flow card"/>
          <p:cNvSpPr/>
          <p:nvPr/>
        </p:nvSpPr>
        <p:spPr>
          <a:xfrm>
            <a:off x="4929176" y="5896943"/>
            <a:ext cx="1119185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199" name="Signal icon" descr="Signal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50644" y="5990333"/>
            <a:ext cx="476249" cy="476249"/>
          </a:xfrm>
          <a:prstGeom prst="rect">
            <a:avLst/>
          </a:prstGeom>
        </p:spPr>
      </p:pic>
      <p:sp>
        <p:nvSpPr>
          <p:cNvPr id="200" name="text"/>
          <p:cNvSpPr txBox="1"/>
          <p:nvPr/>
        </p:nvSpPr>
        <p:spPr>
          <a:xfrm>
            <a:off x="4952989" y="6479604"/>
            <a:ext cx="1071560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Signal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Flow card"/>
          <p:cNvSpPr/>
          <p:nvPr/>
        </p:nvSpPr>
        <p:spPr>
          <a:xfrm>
            <a:off x="6322203" y="5896943"/>
            <a:ext cx="1142997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202" name="Analysis icon" descr="Analysi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55577" y="5990333"/>
            <a:ext cx="476249" cy="476249"/>
          </a:xfrm>
          <a:prstGeom prst="rect">
            <a:avLst/>
          </a:prstGeom>
        </p:spPr>
      </p:pic>
      <p:sp>
        <p:nvSpPr>
          <p:cNvPr id="203" name="text"/>
          <p:cNvSpPr txBox="1"/>
          <p:nvPr/>
        </p:nvSpPr>
        <p:spPr>
          <a:xfrm>
            <a:off x="6346016" y="6479604"/>
            <a:ext cx="1095372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&amp; 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Flow card"/>
          <p:cNvSpPr/>
          <p:nvPr/>
        </p:nvSpPr>
        <p:spPr>
          <a:xfrm>
            <a:off x="7739044" y="5896943"/>
            <a:ext cx="1119185" cy="1084958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205" name="Result icon" descr="Result 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60512" y="5990333"/>
            <a:ext cx="476249" cy="476249"/>
          </a:xfrm>
          <a:prstGeom prst="rect">
            <a:avLst/>
          </a:prstGeom>
        </p:spPr>
      </p:pic>
      <p:sp>
        <p:nvSpPr>
          <p:cNvPr id="206" name="text"/>
          <p:cNvSpPr txBox="1"/>
          <p:nvPr/>
        </p:nvSpPr>
        <p:spPr>
          <a:xfrm>
            <a:off x="7762856" y="6479604"/>
            <a:ext cx="1071560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Display / App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arrow"/>
          <p:cNvSpPr/>
          <p:nvPr/>
        </p:nvSpPr>
        <p:spPr>
          <a:xfrm>
            <a:off x="1785934" y="6308825"/>
            <a:ext cx="214313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08" name="arrow"/>
          <p:cNvSpPr/>
          <p:nvPr/>
        </p:nvSpPr>
        <p:spPr>
          <a:xfrm>
            <a:off x="3214681" y="6308825"/>
            <a:ext cx="214313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09" name="arrow"/>
          <p:cNvSpPr/>
          <p:nvPr/>
        </p:nvSpPr>
        <p:spPr>
          <a:xfrm>
            <a:off x="4702958" y="6308825"/>
            <a:ext cx="202406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10" name="arrow"/>
          <p:cNvSpPr/>
          <p:nvPr/>
        </p:nvSpPr>
        <p:spPr>
          <a:xfrm>
            <a:off x="6084079" y="6308825"/>
            <a:ext cx="214313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11" name="arrow"/>
          <p:cNvSpPr/>
          <p:nvPr/>
        </p:nvSpPr>
        <p:spPr>
          <a:xfrm>
            <a:off x="7512826" y="6308825"/>
            <a:ext cx="202406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12" name="Panel 5 body"/>
          <p:cNvSpPr/>
          <p:nvPr/>
        </p:nvSpPr>
        <p:spPr>
          <a:xfrm>
            <a:off x="9108258" y="5475016"/>
            <a:ext cx="9024915" cy="1657574"/>
          </a:xfrm>
          <a:prstGeom prst="roundRect">
            <a:avLst>
              <a:gd name="adj" fmla="val 4137"/>
            </a:avLst>
          </a:prstGeom>
          <a:solidFill>
            <a:srgbClr val="F7FBFF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213" name="Panel 5 header"/>
          <p:cNvSpPr/>
          <p:nvPr/>
        </p:nvSpPr>
        <p:spPr>
          <a:xfrm>
            <a:off x="9120166" y="5485061"/>
            <a:ext cx="9001103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214" name="Panel 5 badge"/>
          <p:cNvSpPr/>
          <p:nvPr/>
        </p:nvSpPr>
        <p:spPr>
          <a:xfrm>
            <a:off x="9179696" y="5431484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5" name="Panel 5 number"/>
          <p:cNvSpPr txBox="1"/>
          <p:nvPr/>
        </p:nvSpPr>
        <p:spPr>
          <a:xfrm>
            <a:off x="9179696" y="5464970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Panel 5 title"/>
          <p:cNvSpPr txBox="1"/>
          <p:nvPr/>
        </p:nvSpPr>
        <p:spPr>
          <a:xfrm>
            <a:off x="9846444" y="5485061"/>
            <a:ext cx="8191479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Software &amp; AI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Pipeline card"/>
          <p:cNvSpPr/>
          <p:nvPr/>
        </p:nvSpPr>
        <p:spPr>
          <a:xfrm>
            <a:off x="9227321" y="5806530"/>
            <a:ext cx="2059776" cy="1225599"/>
          </a:xfrm>
          <a:prstGeom prst="roundRect">
            <a:avLst>
              <a:gd name="adj" fmla="val 6715"/>
            </a:avLst>
          </a:prstGeom>
          <a:solidFill>
            <a:schemeClr val="bg1"/>
          </a:solidFill>
          <a:ln w="15875">
            <a:solidFill>
              <a:srgbClr val="7B5CC4"/>
            </a:solidFill>
            <a:prstDash val="solid"/>
          </a:ln>
        </p:spPr>
      </p:sp>
      <p:pic>
        <p:nvPicPr>
          <p:cNvPr id="218" name="Image Processing icon" descr="Image Processing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5914" y="5929313"/>
            <a:ext cx="357186" cy="357186"/>
          </a:xfrm>
          <a:prstGeom prst="rect">
            <a:avLst/>
          </a:prstGeom>
        </p:spPr>
      </p:pic>
      <p:sp>
        <p:nvSpPr>
          <p:cNvPr id="219" name="text"/>
          <p:cNvSpPr txBox="1"/>
          <p:nvPr/>
        </p:nvSpPr>
        <p:spPr>
          <a:xfrm>
            <a:off x="9894070" y="5927081"/>
            <a:ext cx="1345403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Image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(OpenCV)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Pipeline bullets"/>
          <p:cNvSpPr txBox="1"/>
          <p:nvPr/>
        </p:nvSpPr>
        <p:spPr>
          <a:xfrm>
            <a:off x="9394008" y="6369099"/>
            <a:ext cx="1821651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Noise reduction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Feature extraction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Particle detection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Pipeline card"/>
          <p:cNvSpPr/>
          <p:nvPr/>
        </p:nvSpPr>
        <p:spPr>
          <a:xfrm>
            <a:off x="11596659" y="5806530"/>
            <a:ext cx="1928808" cy="1225599"/>
          </a:xfrm>
          <a:prstGeom prst="roundRect">
            <a:avLst>
              <a:gd name="adj" fmla="val 6715"/>
            </a:avLst>
          </a:prstGeom>
          <a:solidFill>
            <a:schemeClr val="bg1"/>
          </a:solidFill>
          <a:ln w="15875">
            <a:solidFill>
              <a:srgbClr val="7B5CC4"/>
            </a:solidFill>
            <a:prstDash val="solid"/>
          </a:ln>
        </p:spPr>
      </p:sp>
      <p:pic>
        <p:nvPicPr>
          <p:cNvPr id="222" name="AI/ML Model icon" descr="AI/ML Model 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775252" y="5929313"/>
            <a:ext cx="357186" cy="357186"/>
          </a:xfrm>
          <a:prstGeom prst="rect">
            <a:avLst/>
          </a:prstGeom>
        </p:spPr>
      </p:pic>
      <p:sp>
        <p:nvSpPr>
          <p:cNvPr id="223" name="text"/>
          <p:cNvSpPr txBox="1"/>
          <p:nvPr/>
        </p:nvSpPr>
        <p:spPr>
          <a:xfrm>
            <a:off x="12263408" y="5927081"/>
            <a:ext cx="1214435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AI/ML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Pipeline bullets"/>
          <p:cNvSpPr txBox="1"/>
          <p:nvPr/>
        </p:nvSpPr>
        <p:spPr>
          <a:xfrm>
            <a:off x="11763343" y="6310296"/>
            <a:ext cx="1690683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Classification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Type / Non-type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Confidence score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Pipeline card"/>
          <p:cNvSpPr/>
          <p:nvPr/>
        </p:nvSpPr>
        <p:spPr>
          <a:xfrm>
            <a:off x="13811216" y="5806530"/>
            <a:ext cx="1964526" cy="1225599"/>
          </a:xfrm>
          <a:prstGeom prst="roundRect">
            <a:avLst>
              <a:gd name="adj" fmla="val 671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226" name="Data Processing icon" descr="Data Processing 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89809" y="5929313"/>
            <a:ext cx="357186" cy="357186"/>
          </a:xfrm>
          <a:prstGeom prst="rect">
            <a:avLst/>
          </a:prstGeom>
        </p:spPr>
      </p:pic>
      <p:sp>
        <p:nvSpPr>
          <p:cNvPr id="227" name="text"/>
          <p:cNvSpPr txBox="1"/>
          <p:nvPr/>
        </p:nvSpPr>
        <p:spPr>
          <a:xfrm>
            <a:off x="14477965" y="5927081"/>
            <a:ext cx="1250153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Pipeline bullets"/>
          <p:cNvSpPr txBox="1"/>
          <p:nvPr/>
        </p:nvSpPr>
        <p:spPr>
          <a:xfrm>
            <a:off x="13977904" y="6369099"/>
            <a:ext cx="1726403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Calibration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Risk assessment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1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Result generation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Pipeline card"/>
          <p:cNvSpPr/>
          <p:nvPr/>
        </p:nvSpPr>
        <p:spPr>
          <a:xfrm>
            <a:off x="16061492" y="5806530"/>
            <a:ext cx="1964526" cy="1225599"/>
          </a:xfrm>
          <a:prstGeom prst="roundRect">
            <a:avLst>
              <a:gd name="adj" fmla="val 6715"/>
            </a:avLst>
          </a:prstGeom>
          <a:solidFill>
            <a:schemeClr val="bg1"/>
          </a:solidFill>
          <a:ln w="15875">
            <a:solidFill>
              <a:srgbClr val="3A8DDE"/>
            </a:solidFill>
            <a:prstDash val="solid"/>
          </a:ln>
        </p:spPr>
      </p:sp>
      <p:pic>
        <p:nvPicPr>
          <p:cNvPr id="230" name="Mobile / Web App icon" descr="Mobile / Web App 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240085" y="5929313"/>
            <a:ext cx="357186" cy="357186"/>
          </a:xfrm>
          <a:prstGeom prst="rect">
            <a:avLst/>
          </a:prstGeom>
        </p:spPr>
      </p:pic>
      <p:sp>
        <p:nvSpPr>
          <p:cNvPr id="231" name="text"/>
          <p:cNvSpPr txBox="1"/>
          <p:nvPr/>
        </p:nvSpPr>
        <p:spPr>
          <a:xfrm>
            <a:off x="16728241" y="5927081"/>
            <a:ext cx="1250153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B3C7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Mobile / Web App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Pipeline bullets"/>
          <p:cNvSpPr txBox="1"/>
          <p:nvPr/>
        </p:nvSpPr>
        <p:spPr>
          <a:xfrm>
            <a:off x="16228178" y="6369099"/>
            <a:ext cx="1726403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Live results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History &amp; reports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indent="-190500"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Cloud sync (optional)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arrow"/>
          <p:cNvSpPr/>
          <p:nvPr/>
        </p:nvSpPr>
        <p:spPr>
          <a:xfrm>
            <a:off x="11334722" y="6399237"/>
            <a:ext cx="202406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34" name="arrow"/>
          <p:cNvSpPr/>
          <p:nvPr/>
        </p:nvSpPr>
        <p:spPr>
          <a:xfrm>
            <a:off x="13573091" y="6399237"/>
            <a:ext cx="190500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35" name="arrow"/>
          <p:cNvSpPr/>
          <p:nvPr/>
        </p:nvSpPr>
        <p:spPr>
          <a:xfrm>
            <a:off x="15823367" y="6399237"/>
            <a:ext cx="190500" cy="0"/>
          </a:xfrm>
          <a:prstGeom prst="line">
            <a:avLst/>
          </a:prstGeom>
          <a:noFill/>
          <a:ln w="19050">
            <a:solidFill>
              <a:srgbClr val="0B5CAD"/>
            </a:solidFill>
            <a:prstDash val="solid"/>
            <a:tailEnd type="triangle"/>
          </a:ln>
        </p:spPr>
      </p:sp>
      <p:sp>
        <p:nvSpPr>
          <p:cNvPr id="236" name="Panel 6 body"/>
          <p:cNvSpPr/>
          <p:nvPr/>
        </p:nvSpPr>
        <p:spPr>
          <a:xfrm>
            <a:off x="154781" y="7253138"/>
            <a:ext cx="8798697" cy="2614757"/>
          </a:xfrm>
          <a:prstGeom prst="roundRect">
            <a:avLst>
              <a:gd name="adj" fmla="val 2809"/>
            </a:avLst>
          </a:prstGeom>
          <a:solidFill>
            <a:srgbClr val="F7FBFF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237" name="Panel 6 header"/>
          <p:cNvSpPr/>
          <p:nvPr/>
        </p:nvSpPr>
        <p:spPr>
          <a:xfrm>
            <a:off x="166688" y="7263185"/>
            <a:ext cx="8774885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238" name="Panel 6 badge"/>
          <p:cNvSpPr/>
          <p:nvPr/>
        </p:nvSpPr>
        <p:spPr>
          <a:xfrm>
            <a:off x="226219" y="7209608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9" name="Panel 6 number"/>
          <p:cNvSpPr txBox="1"/>
          <p:nvPr/>
        </p:nvSpPr>
        <p:spPr>
          <a:xfrm>
            <a:off x="226219" y="7243094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Panel 6 title"/>
          <p:cNvSpPr txBox="1"/>
          <p:nvPr/>
        </p:nvSpPr>
        <p:spPr>
          <a:xfrm>
            <a:off x="892967" y="7263185"/>
            <a:ext cx="7965261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Components &amp;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Hardware box"/>
          <p:cNvSpPr/>
          <p:nvPr/>
        </p:nvSpPr>
        <p:spPr>
          <a:xfrm>
            <a:off x="297656" y="7584654"/>
            <a:ext cx="2714618" cy="2207046"/>
          </a:xfrm>
          <a:prstGeom prst="roundRect">
            <a:avLst>
              <a:gd name="adj" fmla="val 2704"/>
            </a:avLst>
          </a:prstGeom>
          <a:solidFill>
            <a:srgbClr val="FFFFFF"/>
          </a:solidFill>
          <a:ln w="15875">
            <a:solidFill>
              <a:srgbClr val="3A8DDE"/>
            </a:solidFill>
            <a:prstDash val="solid"/>
          </a:ln>
        </p:spPr>
      </p:sp>
      <p:sp>
        <p:nvSpPr>
          <p:cNvPr id="242" name="Hardware header"/>
          <p:cNvSpPr/>
          <p:nvPr/>
        </p:nvSpPr>
        <p:spPr>
          <a:xfrm>
            <a:off x="309562" y="7594700"/>
            <a:ext cx="2690807" cy="231056"/>
          </a:xfrm>
          <a:prstGeom prst="roundRect">
            <a:avLst>
              <a:gd name="adj" fmla="val 17809"/>
            </a:avLst>
          </a:prstGeom>
          <a:solidFill>
            <a:srgbClr val="0E4A8E"/>
          </a:solidFill>
          <a:ln/>
        </p:spPr>
      </p:sp>
      <p:sp>
        <p:nvSpPr>
          <p:cNvPr id="243" name="text"/>
          <p:cNvSpPr txBox="1"/>
          <p:nvPr/>
        </p:nvSpPr>
        <p:spPr>
          <a:xfrm>
            <a:off x="619124" y="7594700"/>
            <a:ext cx="1785933" cy="23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Hardware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4" name="Hardware header icon" descr="Hardware header 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672" y="7627814"/>
            <a:ext cx="154781" cy="154781"/>
          </a:xfrm>
          <a:prstGeom prst="rect">
            <a:avLst/>
          </a:prstGeom>
        </p:spPr>
      </p:pic>
      <p:pic>
        <p:nvPicPr>
          <p:cNvPr id="245" name="ESP32 Development Board icon" descr="ESP32 Development Board 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5781" y="7917657"/>
            <a:ext cx="238125" cy="238125"/>
          </a:xfrm>
          <a:prstGeom prst="rect">
            <a:avLst/>
          </a:prstGeom>
        </p:spPr>
      </p:pic>
      <p:sp>
        <p:nvSpPr>
          <p:cNvPr id="246" name="text"/>
          <p:cNvSpPr txBox="1"/>
          <p:nvPr/>
        </p:nvSpPr>
        <p:spPr>
          <a:xfrm>
            <a:off x="934638" y="8064430"/>
            <a:ext cx="196452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ESP32 Development 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8" name="Camera Module icon" descr="Camera Module 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5780" y="8420100"/>
            <a:ext cx="238125" cy="238125"/>
          </a:xfrm>
          <a:prstGeom prst="rect">
            <a:avLst/>
          </a:prstGeom>
        </p:spPr>
      </p:pic>
      <p:sp>
        <p:nvSpPr>
          <p:cNvPr id="249" name="text"/>
          <p:cNvSpPr txBox="1"/>
          <p:nvPr/>
        </p:nvSpPr>
        <p:spPr>
          <a:xfrm>
            <a:off x="866535" y="8496300"/>
            <a:ext cx="196452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1" name="LED Light (White) icon" descr="LED Light (White) 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5780" y="8820670"/>
            <a:ext cx="238125" cy="238125"/>
          </a:xfrm>
          <a:prstGeom prst="rect">
            <a:avLst/>
          </a:prstGeom>
        </p:spPr>
      </p:pic>
      <p:sp>
        <p:nvSpPr>
          <p:cNvPr id="252" name="text"/>
          <p:cNvSpPr txBox="1"/>
          <p:nvPr/>
        </p:nvSpPr>
        <p:spPr>
          <a:xfrm>
            <a:off x="892967" y="8820670"/>
            <a:ext cx="196452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LED Light (White)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4" name="Filter Holder + 0.45 μm Filter icon" descr="Filter Holder + 0.45 μm Filter 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0061" y="9171905"/>
            <a:ext cx="238125" cy="238125"/>
          </a:xfrm>
          <a:prstGeom prst="rect">
            <a:avLst/>
          </a:prstGeom>
        </p:spPr>
      </p:pic>
      <p:sp>
        <p:nvSpPr>
          <p:cNvPr id="255" name="text"/>
          <p:cNvSpPr txBox="1"/>
          <p:nvPr/>
        </p:nvSpPr>
        <p:spPr>
          <a:xfrm>
            <a:off x="866291" y="9214856"/>
            <a:ext cx="2262181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Filter Holder + 0.45 μm Filter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7" name="Battery &amp; Power Circuit icon" descr="Battery &amp; Power Circuit icon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0061" y="9486900"/>
            <a:ext cx="238125" cy="238125"/>
          </a:xfrm>
          <a:prstGeom prst="rect">
            <a:avLst/>
          </a:prstGeom>
        </p:spPr>
      </p:pic>
      <p:sp>
        <p:nvSpPr>
          <p:cNvPr id="258" name="text"/>
          <p:cNvSpPr txBox="1"/>
          <p:nvPr/>
        </p:nvSpPr>
        <p:spPr>
          <a:xfrm>
            <a:off x="851294" y="9486900"/>
            <a:ext cx="21205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Battery &amp; Power Circuit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Software box"/>
          <p:cNvSpPr/>
          <p:nvPr/>
        </p:nvSpPr>
        <p:spPr>
          <a:xfrm>
            <a:off x="3155149" y="7584654"/>
            <a:ext cx="2821775" cy="2029272"/>
          </a:xfrm>
          <a:prstGeom prst="roundRect">
            <a:avLst>
              <a:gd name="adj" fmla="val 2704"/>
            </a:avLst>
          </a:prstGeom>
          <a:solidFill>
            <a:srgbClr val="FFFFFF"/>
          </a:solidFill>
          <a:ln w="15875">
            <a:solidFill>
              <a:srgbClr val="1AA05A"/>
            </a:solidFill>
            <a:prstDash val="solid"/>
          </a:ln>
        </p:spPr>
      </p:sp>
      <p:sp>
        <p:nvSpPr>
          <p:cNvPr id="261" name="Software header"/>
          <p:cNvSpPr/>
          <p:nvPr/>
        </p:nvSpPr>
        <p:spPr>
          <a:xfrm>
            <a:off x="3167055" y="7594700"/>
            <a:ext cx="2797962" cy="231056"/>
          </a:xfrm>
          <a:prstGeom prst="roundRect">
            <a:avLst>
              <a:gd name="adj" fmla="val 17809"/>
            </a:avLst>
          </a:prstGeom>
          <a:solidFill>
            <a:srgbClr val="1AA05A"/>
          </a:solidFill>
          <a:ln/>
        </p:spPr>
      </p:sp>
      <p:sp>
        <p:nvSpPr>
          <p:cNvPr id="262" name="text"/>
          <p:cNvSpPr txBox="1"/>
          <p:nvPr/>
        </p:nvSpPr>
        <p:spPr>
          <a:xfrm>
            <a:off x="3476616" y="7594700"/>
            <a:ext cx="1785933" cy="23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Software &amp; AI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3" name="Software header icon" descr="Software header icon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68258" y="7627814"/>
            <a:ext cx="154781" cy="154781"/>
          </a:xfrm>
          <a:prstGeom prst="rect">
            <a:avLst/>
          </a:prstGeom>
        </p:spPr>
      </p:pic>
      <p:pic>
        <p:nvPicPr>
          <p:cNvPr id="264" name="Python icon" descr="Python icon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93274" y="7905751"/>
            <a:ext cx="261938" cy="261938"/>
          </a:xfrm>
          <a:prstGeom prst="rect">
            <a:avLst/>
          </a:prstGeom>
        </p:spPr>
      </p:pic>
      <p:sp>
        <p:nvSpPr>
          <p:cNvPr id="265" name="text"/>
          <p:cNvSpPr txBox="1"/>
          <p:nvPr/>
        </p:nvSpPr>
        <p:spPr>
          <a:xfrm>
            <a:off x="3952865" y="7946306"/>
            <a:ext cx="2000246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</a:t>
            </a:r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(Programming)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" name="OpenCV icon" descr="OpenCV icon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93274" y="8217173"/>
            <a:ext cx="261938" cy="261938"/>
          </a:xfrm>
          <a:prstGeom prst="rect">
            <a:avLst/>
          </a:prstGeom>
        </p:spPr>
      </p:pic>
      <p:sp>
        <p:nvSpPr>
          <p:cNvPr id="267" name="text"/>
          <p:cNvSpPr txBox="1"/>
          <p:nvPr/>
        </p:nvSpPr>
        <p:spPr>
          <a:xfrm>
            <a:off x="3869523" y="8328420"/>
            <a:ext cx="214313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OpenCV</a:t>
            </a:r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(Image Processing)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8" name="AI / ML icon" descr="AI / ML icon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93274" y="8528597"/>
            <a:ext cx="261938" cy="261938"/>
          </a:xfrm>
          <a:prstGeom prst="rect">
            <a:avLst/>
          </a:prstGeom>
        </p:spPr>
      </p:pic>
      <p:sp>
        <p:nvSpPr>
          <p:cNvPr id="269" name="text"/>
          <p:cNvSpPr txBox="1"/>
          <p:nvPr/>
        </p:nvSpPr>
        <p:spPr>
          <a:xfrm>
            <a:off x="3821898" y="8633518"/>
            <a:ext cx="2000246" cy="18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 / ML</a:t>
            </a:r>
            <a:r>
              <a:rPr lang="en-US" sz="14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(Classification)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0" name="Data Analytics icon" descr="Data Analytics icon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97072" y="8920013"/>
            <a:ext cx="261938" cy="261938"/>
          </a:xfrm>
          <a:prstGeom prst="rect">
            <a:avLst/>
          </a:prstGeom>
        </p:spPr>
      </p:pic>
      <p:sp>
        <p:nvSpPr>
          <p:cNvPr id="271" name="text"/>
          <p:cNvSpPr txBox="1"/>
          <p:nvPr/>
        </p:nvSpPr>
        <p:spPr>
          <a:xfrm>
            <a:off x="3833803" y="9021216"/>
            <a:ext cx="200024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3" name="Mobile / Web App icon" descr="Mobile / Web App icon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93274" y="9261947"/>
            <a:ext cx="261938" cy="261938"/>
          </a:xfrm>
          <a:prstGeom prst="rect">
            <a:avLst/>
          </a:prstGeom>
        </p:spPr>
      </p:pic>
      <p:sp>
        <p:nvSpPr>
          <p:cNvPr id="274" name="text"/>
          <p:cNvSpPr txBox="1"/>
          <p:nvPr/>
        </p:nvSpPr>
        <p:spPr>
          <a:xfrm>
            <a:off x="3902848" y="9342685"/>
            <a:ext cx="200024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Mobile / Web App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PFAS module box"/>
          <p:cNvSpPr/>
          <p:nvPr/>
        </p:nvSpPr>
        <p:spPr>
          <a:xfrm>
            <a:off x="6119798" y="7584654"/>
            <a:ext cx="2738430" cy="2029272"/>
          </a:xfrm>
          <a:prstGeom prst="roundRect">
            <a:avLst>
              <a:gd name="adj" fmla="val 2704"/>
            </a:avLst>
          </a:prstGeom>
          <a:solidFill>
            <a:srgbClr val="FFFFFF"/>
          </a:solidFill>
          <a:ln w="15875">
            <a:solidFill>
              <a:srgbClr val="7B3FC4"/>
            </a:solidFill>
            <a:prstDash val="solid"/>
          </a:ln>
        </p:spPr>
      </p:sp>
      <p:sp>
        <p:nvSpPr>
          <p:cNvPr id="277" name="PFAS module header"/>
          <p:cNvSpPr/>
          <p:nvPr/>
        </p:nvSpPr>
        <p:spPr>
          <a:xfrm>
            <a:off x="6131704" y="7594700"/>
            <a:ext cx="2714618" cy="231056"/>
          </a:xfrm>
          <a:prstGeom prst="roundRect">
            <a:avLst>
              <a:gd name="adj" fmla="val 17809"/>
            </a:avLst>
          </a:prstGeom>
          <a:solidFill>
            <a:srgbClr val="7B3FC4"/>
          </a:solidFill>
          <a:ln/>
        </p:spPr>
      </p:sp>
      <p:sp>
        <p:nvSpPr>
          <p:cNvPr id="278" name="text"/>
          <p:cNvSpPr txBox="1"/>
          <p:nvPr/>
        </p:nvSpPr>
        <p:spPr>
          <a:xfrm>
            <a:off x="6429359" y="7594700"/>
            <a:ext cx="2262182" cy="23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PFAS Module (Proposed)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9" name="PFAS header icon" descr="PFAS header icon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21000" y="7627814"/>
            <a:ext cx="154781" cy="154781"/>
          </a:xfrm>
          <a:prstGeom prst="rect">
            <a:avLst/>
          </a:prstGeom>
        </p:spPr>
      </p:pic>
      <p:pic>
        <p:nvPicPr>
          <p:cNvPr id="280" name="Target-specific Cartridge icon" descr="Target-specific Cartridge icon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68625" y="7845846"/>
            <a:ext cx="309561" cy="309561"/>
          </a:xfrm>
          <a:prstGeom prst="rect">
            <a:avLst/>
          </a:prstGeom>
        </p:spPr>
      </p:pic>
      <p:sp>
        <p:nvSpPr>
          <p:cNvPr id="281" name="text"/>
          <p:cNvSpPr txBox="1"/>
          <p:nvPr/>
        </p:nvSpPr>
        <p:spPr>
          <a:xfrm>
            <a:off x="6622477" y="7959707"/>
            <a:ext cx="2253610" cy="14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Target-specific Cartridge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text"/>
          <p:cNvSpPr txBox="1"/>
          <p:nvPr/>
        </p:nvSpPr>
        <p:spPr>
          <a:xfrm>
            <a:off x="6747474" y="8254960"/>
            <a:ext cx="1964526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(PFOA + PFOS)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3" name="Signal Reader icon" descr="Signal Reader icon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346016" y="8454554"/>
            <a:ext cx="309561" cy="309561"/>
          </a:xfrm>
          <a:prstGeom prst="rect">
            <a:avLst/>
          </a:prstGeom>
        </p:spPr>
      </p:pic>
      <p:sp>
        <p:nvSpPr>
          <p:cNvPr id="284" name="text"/>
          <p:cNvSpPr txBox="1"/>
          <p:nvPr/>
        </p:nvSpPr>
        <p:spPr>
          <a:xfrm>
            <a:off x="6750827" y="8491552"/>
            <a:ext cx="196452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Signal Reader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text"/>
          <p:cNvSpPr txBox="1"/>
          <p:nvPr/>
        </p:nvSpPr>
        <p:spPr>
          <a:xfrm>
            <a:off x="6774639" y="8801100"/>
            <a:ext cx="1964526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(Electrochemical / Optical / MIP-based)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" name="Data Processing icon" descr="Data Processing icon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10297" y="9055984"/>
            <a:ext cx="309561" cy="309561"/>
          </a:xfrm>
          <a:prstGeom prst="rect">
            <a:avLst/>
          </a:prstGeom>
        </p:spPr>
      </p:pic>
      <p:sp>
        <p:nvSpPr>
          <p:cNvPr id="287" name="text"/>
          <p:cNvSpPr txBox="1"/>
          <p:nvPr/>
        </p:nvSpPr>
        <p:spPr>
          <a:xfrm>
            <a:off x="6766067" y="9106606"/>
            <a:ext cx="1964526" cy="15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Processing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text"/>
          <p:cNvSpPr txBox="1"/>
          <p:nvPr/>
        </p:nvSpPr>
        <p:spPr>
          <a:xfrm>
            <a:off x="6822978" y="9342685"/>
            <a:ext cx="1964526" cy="14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4677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(Calibration &amp; Validation)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Panel 8 body"/>
          <p:cNvSpPr/>
          <p:nvPr/>
        </p:nvSpPr>
        <p:spPr>
          <a:xfrm>
            <a:off x="13465935" y="7253138"/>
            <a:ext cx="4667238" cy="2614743"/>
          </a:xfrm>
          <a:prstGeom prst="roundRect">
            <a:avLst>
              <a:gd name="adj" fmla="val 2809"/>
            </a:avLst>
          </a:prstGeom>
          <a:solidFill>
            <a:schemeClr val="bg1"/>
          </a:solidFill>
          <a:ln w="15875">
            <a:solidFill>
              <a:srgbClr val="F2C46A"/>
            </a:solidFill>
            <a:prstDash val="solid"/>
          </a:ln>
        </p:spPr>
      </p:sp>
      <p:sp>
        <p:nvSpPr>
          <p:cNvPr id="322" name="Panel 8 header"/>
          <p:cNvSpPr/>
          <p:nvPr/>
        </p:nvSpPr>
        <p:spPr>
          <a:xfrm>
            <a:off x="13477843" y="7263185"/>
            <a:ext cx="4643426" cy="281285"/>
          </a:xfrm>
          <a:prstGeom prst="roundRect">
            <a:avLst>
              <a:gd name="adj" fmla="val 19505"/>
            </a:avLst>
          </a:prstGeom>
          <a:solidFill>
            <a:srgbClr val="0E4A8E"/>
          </a:solidFill>
          <a:ln/>
        </p:spPr>
      </p:sp>
      <p:sp>
        <p:nvSpPr>
          <p:cNvPr id="323" name="Panel 8 badge"/>
          <p:cNvSpPr/>
          <p:nvPr/>
        </p:nvSpPr>
        <p:spPr>
          <a:xfrm>
            <a:off x="13537373" y="7209608"/>
            <a:ext cx="428624" cy="428624"/>
          </a:xfrm>
          <a:prstGeom prst="ellipse">
            <a:avLst/>
          </a:prstGeom>
          <a:solidFill>
            <a:srgbClr val="0B3E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4" name="Panel 8 number"/>
          <p:cNvSpPr txBox="1"/>
          <p:nvPr/>
        </p:nvSpPr>
        <p:spPr>
          <a:xfrm>
            <a:off x="13537373" y="7243094"/>
            <a:ext cx="428624" cy="361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Panel 8 title"/>
          <p:cNvSpPr txBox="1"/>
          <p:nvPr/>
        </p:nvSpPr>
        <p:spPr>
          <a:xfrm>
            <a:off x="14204122" y="7263185"/>
            <a:ext cx="383380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Important Notes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6" name="Note icon 1" descr="Note icon 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3792200" y="7658100"/>
            <a:ext cx="333374" cy="333374"/>
          </a:xfrm>
          <a:prstGeom prst="rect">
            <a:avLst/>
          </a:prstGeom>
        </p:spPr>
      </p:pic>
      <p:sp>
        <p:nvSpPr>
          <p:cNvPr id="327" name="text"/>
          <p:cNvSpPr txBox="1"/>
          <p:nvPr/>
        </p:nvSpPr>
        <p:spPr>
          <a:xfrm>
            <a:off x="14287464" y="7584655"/>
            <a:ext cx="3762366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Microplastic detection: Feasible with current components (camera + image processing).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8" name="Note icon 2" descr="Note icon 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792200" y="8191500"/>
            <a:ext cx="333374" cy="333374"/>
          </a:xfrm>
          <a:prstGeom prst="rect">
            <a:avLst/>
          </a:prstGeom>
        </p:spPr>
      </p:pic>
      <p:sp>
        <p:nvSpPr>
          <p:cNvPr id="329" name="text"/>
          <p:cNvSpPr txBox="1"/>
          <p:nvPr/>
        </p:nvSpPr>
        <p:spPr>
          <a:xfrm>
            <a:off x="14325600" y="8115300"/>
            <a:ext cx="3762366" cy="421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PFAS detection (PFOA &amp; PFOS): Proposed module. Requires existing research-based sensing approach and proper validation.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0" name="Note icon 3" descr="Note icon 3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792200" y="8724900"/>
            <a:ext cx="333374" cy="333374"/>
          </a:xfrm>
          <a:prstGeom prst="rect">
            <a:avLst/>
          </a:prstGeom>
        </p:spPr>
      </p:pic>
      <p:sp>
        <p:nvSpPr>
          <p:cNvPr id="331" name="text"/>
          <p:cNvSpPr txBox="1"/>
          <p:nvPr/>
        </p:nvSpPr>
        <p:spPr>
          <a:xfrm>
            <a:off x="14249400" y="8724900"/>
            <a:ext cx="3762366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Concentration values: Approximate and depends on calibration and testing (range: ng/L).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2" name="Note icon 4" descr="Note icon 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716000" y="9319825"/>
            <a:ext cx="333374" cy="333374"/>
          </a:xfrm>
          <a:prstGeom prst="rect">
            <a:avLst/>
          </a:prstGeom>
        </p:spPr>
      </p:pic>
      <p:sp>
        <p:nvSpPr>
          <p:cNvPr id="333" name="text"/>
          <p:cNvSpPr txBox="1"/>
          <p:nvPr/>
        </p:nvSpPr>
        <p:spPr>
          <a:xfrm>
            <a:off x="14325600" y="9342685"/>
            <a:ext cx="3762366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B355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Final accuracy depends on sensor selection, calibration, real-water testing and interference handling.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9" name="Image 8" descr="preencoded.png">
            <a:extLst>
              <a:ext uri="{FF2B5EF4-FFF2-40B4-BE49-F238E27FC236}">
                <a16:creationId xmlns:a16="http://schemas.microsoft.com/office/drawing/2014/main" id="{707C2A30-2D15-F1C7-5B6D-79432199DD7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194327" y="1707803"/>
            <a:ext cx="2437805" cy="3321844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E84AB9FC-5486-3D6D-ACC6-4BA9CBEFEA1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2133" y="85540"/>
            <a:ext cx="3205571" cy="825290"/>
          </a:xfrm>
          <a:prstGeom prst="rect">
            <a:avLst/>
          </a:prstGeom>
        </p:spPr>
      </p:pic>
      <p:pic>
        <p:nvPicPr>
          <p:cNvPr id="355" name="Picture 354">
            <a:extLst>
              <a:ext uri="{FF2B5EF4-FFF2-40B4-BE49-F238E27FC236}">
                <a16:creationId xmlns:a16="http://schemas.microsoft.com/office/drawing/2014/main" id="{1B23C3A3-21E0-2C81-026A-41BA04CA88F8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578269" y="-50597"/>
            <a:ext cx="2647688" cy="994912"/>
          </a:xfrm>
          <a:prstGeom prst="rect">
            <a:avLst/>
          </a:prstGeom>
        </p:spPr>
      </p:pic>
      <p:sp>
        <p:nvSpPr>
          <p:cNvPr id="357" name="Rectangle 356">
            <a:extLst>
              <a:ext uri="{FF2B5EF4-FFF2-40B4-BE49-F238E27FC236}">
                <a16:creationId xmlns:a16="http://schemas.microsoft.com/office/drawing/2014/main" id="{4249F668-538D-39D1-5D30-C34A210FD94D}"/>
              </a:ext>
            </a:extLst>
          </p:cNvPr>
          <p:cNvSpPr/>
          <p:nvPr/>
        </p:nvSpPr>
        <p:spPr>
          <a:xfrm>
            <a:off x="0" y="9967912"/>
            <a:ext cx="18288000" cy="35718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9F7F7A-3830-6666-538F-A4F864197A11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43977" y="7261925"/>
            <a:ext cx="4267223" cy="2605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82691-3EC5-44A5-BDC3-2CD5B7190F5C}"/>
              </a:ext>
            </a:extLst>
          </p:cNvPr>
          <p:cNvSpPr txBox="1"/>
          <p:nvPr/>
        </p:nvSpPr>
        <p:spPr>
          <a:xfrm>
            <a:off x="5562382" y="74415"/>
            <a:ext cx="91872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194382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11916" y="1152764"/>
            <a:ext cx="7270670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"/>
              </a:lnSpc>
            </a:pP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338145"/>
            <a:ext cx="5334000" cy="6010514"/>
          </a:xfrm>
          <a:prstGeom prst="roundRect">
            <a:avLst>
              <a:gd name="adj" fmla="val 2857"/>
            </a:avLst>
          </a:prstGeom>
          <a:solidFill>
            <a:srgbClr val="DCEB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8200" y="1528644"/>
            <a:ext cx="5023104" cy="362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583"/>
              </a:lnSpc>
            </a:pPr>
            <a:r>
              <a:rPr lang="en-US" sz="24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🟢 Technical Feasibility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" y="1872377"/>
            <a:ext cx="5023104" cy="32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85"/>
              </a:lnSpc>
            </a:pPr>
            <a:r>
              <a:rPr lang="en-US" sz="2000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Can we build it?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" y="2270761"/>
            <a:ext cx="5023104" cy="30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6"/>
              </a:lnSpc>
            </a:pPr>
            <a:r>
              <a:rPr lang="en-US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8200" y="2554010"/>
            <a:ext cx="5023104" cy="800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11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Portable enclosure · Camera + controlled illumination · Controller + battery · Sample chamber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200" y="3430428"/>
            <a:ext cx="5023104" cy="30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6"/>
              </a:lnSpc>
            </a:pPr>
            <a:r>
              <a:rPr lang="en-US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Microplastic Screening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8200" y="3713441"/>
            <a:ext cx="502310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04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Filtration · Controlled imaging · Image-based particle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200" y="4335424"/>
            <a:ext cx="5023104" cy="30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6"/>
              </a:lnSpc>
            </a:pPr>
            <a:r>
              <a:rPr lang="en-US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PFAS Screening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8200" y="4618673"/>
            <a:ext cx="50231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11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Target-specific cartridge · Recognition chemistry · Measurable signal · Laboratory comparison for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8200" y="5494973"/>
            <a:ext cx="5023104" cy="30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6"/>
              </a:lnSpc>
            </a:pPr>
            <a:r>
              <a:rPr lang="en-US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Software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8200" y="5778104"/>
            <a:ext cx="502310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04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QR/source ID · Offline data capture · Risk dashboard · Cloud synchronization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8200" y="6400087"/>
            <a:ext cx="4876800" cy="758072"/>
          </a:xfrm>
          <a:prstGeom prst="roundRect">
            <a:avLst>
              <a:gd name="adj" fmla="val 15078"/>
            </a:avLst>
          </a:pr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9650" y="6514387"/>
            <a:ext cx="4669917" cy="56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14"/>
              </a:lnSpc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Technically feasible with staged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84275" y="1411944"/>
            <a:ext cx="5101590" cy="341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30"/>
              </a:lnSpc>
            </a:pPr>
            <a:r>
              <a:rPr lang="en-US" sz="28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🟢 Product Viability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1660565"/>
            <a:ext cx="5101590" cy="303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5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Can it become a practical solution?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2040255"/>
            <a:ext cx="4953000" cy="1153239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0" y="2040255"/>
            <a:ext cx="4953000" cy="1153239"/>
          </a:xfrm>
          <a:custGeom>
            <a:avLst/>
            <a:gdLst/>
            <a:ahLst/>
            <a:cxnLst/>
            <a:rect l="l" t="t" r="r" b="b"/>
            <a:pathLst>
              <a:path w="3302000" h="768826">
                <a:moveTo>
                  <a:pt x="88900" y="768826"/>
                </a:moveTo>
                <a:lnTo>
                  <a:pt x="88900" y="768826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38100" hR="88900" stAng="16200000" swAng="-5400000"/>
                <a:lnTo>
                  <a:pt x="50800" y="679926"/>
                </a:lnTo>
                <a:arcTo wR="38100" hR="88900" stAng="10800000" swAng="-5400000"/>
                <a:close/>
              </a:path>
            </a:pathLst>
          </a:cu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57950" y="2211706"/>
            <a:ext cx="4591431" cy="32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86"/>
              </a:lnSpc>
            </a:pPr>
            <a:r>
              <a:rPr lang="en-US" sz="19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💰 Affordable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57950" y="2551273"/>
            <a:ext cx="4591431" cy="508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50"/>
              </a:lnSpc>
            </a:pPr>
            <a:r>
              <a:rPr lang="en-US" sz="1600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Reusable core + replaceable sensing consumables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3307794"/>
            <a:ext cx="4953000" cy="914877"/>
          </a:xfrm>
          <a:prstGeom prst="roundRect">
            <a:avLst>
              <a:gd name="adj" fmla="val 14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72200" y="3307794"/>
            <a:ext cx="4953000" cy="914877"/>
          </a:xfrm>
          <a:custGeom>
            <a:avLst/>
            <a:gdLst/>
            <a:ahLst/>
            <a:cxnLst/>
            <a:rect l="l" t="t" r="r" b="b"/>
            <a:pathLst>
              <a:path w="3302000" h="609918">
                <a:moveTo>
                  <a:pt x="88900" y="609918"/>
                </a:moveTo>
                <a:lnTo>
                  <a:pt x="88900" y="609918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38100" hR="88900" stAng="16200000" swAng="-5400000"/>
                <a:lnTo>
                  <a:pt x="50800" y="521018"/>
                </a:lnTo>
                <a:arcTo wR="38100" hR="88900" stAng="10800000" swAng="-5400000"/>
                <a:close/>
              </a:path>
            </a:pathLst>
          </a:cu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57950" y="3479244"/>
            <a:ext cx="4591431" cy="318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11"/>
              </a:lnSpc>
            </a:pPr>
            <a:r>
              <a:rPr lang="en-US" sz="19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📦 Scalable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57950" y="3817263"/>
            <a:ext cx="4591431" cy="27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05"/>
              </a:lnSpc>
            </a:pPr>
            <a:r>
              <a:rPr lang="en-US" sz="1600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One source → Village → District → State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2200" y="4336971"/>
            <a:ext cx="4953000" cy="914877"/>
          </a:xfrm>
          <a:prstGeom prst="roundRect">
            <a:avLst>
              <a:gd name="adj" fmla="val 14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4336971"/>
            <a:ext cx="4953000" cy="914877"/>
          </a:xfrm>
          <a:custGeom>
            <a:avLst/>
            <a:gdLst/>
            <a:ahLst/>
            <a:cxnLst/>
            <a:rect l="l" t="t" r="r" b="b"/>
            <a:pathLst>
              <a:path w="3302000" h="609918">
                <a:moveTo>
                  <a:pt x="88900" y="609918"/>
                </a:moveTo>
                <a:lnTo>
                  <a:pt x="88900" y="609918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38100" hR="88900" stAng="16200000" swAng="-5400000"/>
                <a:lnTo>
                  <a:pt x="50800" y="521018"/>
                </a:lnTo>
                <a:arcTo wR="38100" hR="88900" stAng="10800000" swAng="-5400000"/>
                <a:close/>
              </a:path>
            </a:pathLst>
          </a:cu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57950" y="4508421"/>
            <a:ext cx="4591431" cy="318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11"/>
              </a:lnSpc>
            </a:pPr>
            <a:r>
              <a:rPr lang="en-US" sz="19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🔧 Adaptable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57950" y="4846439"/>
            <a:ext cx="4591431" cy="27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05"/>
              </a:lnSpc>
            </a:pPr>
            <a:r>
              <a:rPr lang="en-US" sz="1600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PFAS → Microplastics → Future modules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72200" y="5366147"/>
            <a:ext cx="4953000" cy="914877"/>
          </a:xfrm>
          <a:prstGeom prst="roundRect">
            <a:avLst>
              <a:gd name="adj" fmla="val 14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72200" y="5366147"/>
            <a:ext cx="4953000" cy="914877"/>
          </a:xfrm>
          <a:custGeom>
            <a:avLst/>
            <a:gdLst/>
            <a:ahLst/>
            <a:cxnLst/>
            <a:rect l="l" t="t" r="r" b="b"/>
            <a:pathLst>
              <a:path w="3302000" h="609918">
                <a:moveTo>
                  <a:pt x="88900" y="609918"/>
                </a:moveTo>
                <a:lnTo>
                  <a:pt x="88900" y="609918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88900" y="0"/>
                </a:lnTo>
                <a:arcTo wR="38100" hR="88900" stAng="16200000" swAng="-5400000"/>
                <a:lnTo>
                  <a:pt x="50800" y="521018"/>
                </a:lnTo>
                <a:arcTo wR="38100" hR="88900" stAng="10800000" swAng="-5400000"/>
                <a:close/>
              </a:path>
            </a:pathLst>
          </a:cu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57950" y="5537597"/>
            <a:ext cx="4591431" cy="318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11"/>
              </a:lnSpc>
            </a:pPr>
            <a:r>
              <a:rPr lang="en-US" sz="19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👤 Easy to Use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57950" y="5875616"/>
            <a:ext cx="4591431" cy="27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05"/>
              </a:lnSpc>
            </a:pPr>
            <a:r>
              <a:rPr lang="en-US" sz="1600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QR → Guided Test → Result → 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200" y="6395324"/>
            <a:ext cx="5101590" cy="99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37"/>
              </a:lnSpc>
            </a:pPr>
            <a:r>
              <a:rPr lang="en-US" sz="179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reusable device is designed for repeated field use, while sensing cartridges/cassettes are replaced per testing workflow.</a:t>
            </a:r>
            <a:endParaRPr lang="en-US" sz="17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496675" y="1503164"/>
            <a:ext cx="6324600" cy="6010514"/>
          </a:xfrm>
          <a:prstGeom prst="roundRect">
            <a:avLst>
              <a:gd name="adj" fmla="val 2536"/>
            </a:avLst>
          </a:prstGeom>
          <a:solidFill>
            <a:srgbClr val="F6E6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551802" y="1617465"/>
            <a:ext cx="6043422" cy="307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33"/>
              </a:lnSpc>
            </a:pPr>
            <a:r>
              <a:rPr lang="en-US" sz="2400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🔴 Risks &amp; Mitigation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734800" y="1893214"/>
            <a:ext cx="2266950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20"/>
              </a:lnSpc>
            </a:pPr>
            <a:r>
              <a:rPr lang="en-US" sz="1500" b="1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Challenge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077951" y="1893214"/>
            <a:ext cx="2235851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20"/>
              </a:lnSpc>
            </a:pPr>
            <a:r>
              <a:rPr lang="en-US" sz="1500" b="1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 Our Approach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582400" y="2224088"/>
            <a:ext cx="586740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1734800" y="2246948"/>
            <a:ext cx="226695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PFAS sensitivity / selectivity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4077950" y="2384108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4458951" y="2246948"/>
            <a:ext cx="292360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Start with selected targets + laboratory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1582400" y="2913698"/>
            <a:ext cx="5867400" cy="594479"/>
          </a:xfrm>
          <a:prstGeom prst="roundRect">
            <a:avLst>
              <a:gd name="adj" fmla="val 160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1734800" y="2936676"/>
            <a:ext cx="226695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PFAS contamination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4077950" y="3073718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4458951" y="2936676"/>
            <a:ext cx="292360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Controlled sampling + blanks + QC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1582400" y="3603426"/>
            <a:ext cx="586740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1734800" y="3626286"/>
            <a:ext cx="226695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Microplastic false positives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4077950" y="3763446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4458951" y="3626286"/>
            <a:ext cx="292360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Controlled imaging + QC +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1582400" y="4293036"/>
            <a:ext cx="586740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1734800" y="4315896"/>
            <a:ext cx="226695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Different water matrices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4077950" y="4453056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4458951" y="4453056"/>
            <a:ext cx="292360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Matrix-specific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1582400" y="4982646"/>
            <a:ext cx="586740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1734800" y="5142668"/>
            <a:ext cx="226695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Field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4077950" y="5142668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4458951" y="5005506"/>
            <a:ext cx="292360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Rugged enclosure + guided 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582400" y="5672256"/>
            <a:ext cx="586740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1734800" y="5832276"/>
            <a:ext cx="226695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Cartridge stability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4077950" y="5832276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4458951" y="5695118"/>
            <a:ext cx="292360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Controlled storage + shelf-life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1645265" y="6336504"/>
            <a:ext cx="5867400" cy="796290"/>
          </a:xfrm>
          <a:prstGeom prst="roundRect">
            <a:avLst>
              <a:gd name="adj" fmla="val 119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11734800" y="6485693"/>
            <a:ext cx="226695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Scientific acceptance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4077950" y="6622851"/>
            <a:ext cx="3048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9A4A1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4458951" y="6348531"/>
            <a:ext cx="2923604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Compare against reference laboratory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09600" y="7482007"/>
            <a:ext cx="17580864" cy="281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82"/>
              </a:lnSpc>
            </a:pPr>
            <a:r>
              <a:rPr lang="en-US" sz="1652" b="1" dirty="0">
                <a:solidFill>
                  <a:srgbClr val="0B2A3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Development Roadmap</a:t>
            </a:r>
            <a:endParaRPr lang="en-US" sz="165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09600" y="7812525"/>
            <a:ext cx="2400300" cy="857250"/>
          </a:xfrm>
          <a:prstGeom prst="roundRect">
            <a:avLst>
              <a:gd name="adj" fmla="val 13333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42950" y="7926825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V0.1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42950" y="8292584"/>
            <a:ext cx="2209800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105150" y="8001119"/>
            <a:ext cx="4191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80"/>
              </a:lnSpc>
            </a:pPr>
            <a:r>
              <a:rPr lang="en-US" sz="2700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543300" y="7681199"/>
            <a:ext cx="2400300" cy="1120140"/>
          </a:xfrm>
          <a:prstGeom prst="roundRect">
            <a:avLst>
              <a:gd name="adj" fmla="val 10204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676650" y="7795499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V0.2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3676650" y="8161259"/>
            <a:ext cx="22098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Microplastic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6038850" y="8001119"/>
            <a:ext cx="4191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80"/>
              </a:lnSpc>
            </a:pPr>
            <a:r>
              <a:rPr lang="en-US" sz="2700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477000" y="7812525"/>
            <a:ext cx="2400300" cy="857250"/>
          </a:xfrm>
          <a:prstGeom prst="roundRect">
            <a:avLst>
              <a:gd name="adj" fmla="val 13333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610350" y="7926825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V0.3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610350" y="8292584"/>
            <a:ext cx="2209800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PFAS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8972550" y="8001119"/>
            <a:ext cx="4191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80"/>
              </a:lnSpc>
            </a:pPr>
            <a:r>
              <a:rPr lang="en-US" sz="2700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9410700" y="7812525"/>
            <a:ext cx="2400300" cy="857250"/>
          </a:xfrm>
          <a:prstGeom prst="roundRect">
            <a:avLst>
              <a:gd name="adj" fmla="val 13333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9544050" y="7926825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V0.4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544050" y="8292584"/>
            <a:ext cx="2209800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Lab 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1906250" y="8001119"/>
            <a:ext cx="4191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80"/>
              </a:lnSpc>
            </a:pPr>
            <a:r>
              <a:rPr lang="en-US" sz="2700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2344400" y="7812525"/>
            <a:ext cx="2400300" cy="857250"/>
          </a:xfrm>
          <a:prstGeom prst="roundRect">
            <a:avLst>
              <a:gd name="adj" fmla="val 13333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12477750" y="7926825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V1.0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12477750" y="8292584"/>
            <a:ext cx="2209800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Field Pilot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14839950" y="8001119"/>
            <a:ext cx="4191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80"/>
              </a:lnSpc>
            </a:pPr>
            <a:r>
              <a:rPr lang="en-US" sz="2700" b="1" dirty="0">
                <a:solidFill>
                  <a:srgbClr val="12806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→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5278100" y="7812525"/>
            <a:ext cx="2400300" cy="857250"/>
          </a:xfrm>
          <a:prstGeom prst="roundRect">
            <a:avLst>
              <a:gd name="adj" fmla="val 13333"/>
            </a:avLst>
          </a:prstGeom>
          <a:solidFill>
            <a:srgbClr val="0B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15411450" y="7926825"/>
            <a:ext cx="22098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30"/>
              </a:lnSpc>
            </a:pPr>
            <a:r>
              <a:rPr lang="en-US" sz="1950" b="1" dirty="0">
                <a:solidFill>
                  <a:srgbClr val="5FD3BB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Next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5411450" y="8292584"/>
            <a:ext cx="2209800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70"/>
              </a:lnSpc>
            </a:pPr>
            <a:r>
              <a:rPr lang="en-US" dirty="0">
                <a:solidFill>
                  <a:srgbClr val="EAF2F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Scale-up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09600" y="8833247"/>
            <a:ext cx="17068800" cy="751284"/>
          </a:xfrm>
          <a:prstGeom prst="roundRect">
            <a:avLst>
              <a:gd name="adj" fmla="val 17750"/>
            </a:avLst>
          </a:prstGeom>
          <a:solidFill>
            <a:srgbClr val="128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589026" y="8966597"/>
            <a:ext cx="17109948" cy="52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3855"/>
              </a:lnSpc>
            </a:pPr>
            <a:r>
              <a:rPr lang="en-US" sz="2754" b="1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 → Validate → Pilot → Scale</a:t>
            </a:r>
            <a:endParaRPr lang="en-US" sz="275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353568" y="9601201"/>
            <a:ext cx="17580864" cy="30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2135"/>
              </a:lnSpc>
            </a:pPr>
            <a:r>
              <a:rPr lang="en-US" sz="1524" dirty="0">
                <a:solidFill>
                  <a:srgbClr val="33474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JalGuard is positioned as a field-screening and surveillance platform, not a replacement for accredited laboratory confirmation.</a:t>
            </a:r>
            <a:endParaRPr lang="en-US" sz="152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3742184-A4D2-DFD8-8FDC-CE21B9E40C06}"/>
              </a:ext>
            </a:extLst>
          </p:cNvPr>
          <p:cNvSpPr/>
          <p:nvPr/>
        </p:nvSpPr>
        <p:spPr>
          <a:xfrm>
            <a:off x="0" y="9967912"/>
            <a:ext cx="18288000" cy="35718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4B93F4B-C9DB-6552-4A8D-0A95AE00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777" y="0"/>
            <a:ext cx="2647688" cy="1265037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6ED7E0CA-BA2D-FA3E-CCAD-E16BFD9AEA09}"/>
              </a:ext>
            </a:extLst>
          </p:cNvPr>
          <p:cNvSpPr/>
          <p:nvPr/>
        </p:nvSpPr>
        <p:spPr>
          <a:xfrm>
            <a:off x="119787" y="1269743"/>
            <a:ext cx="182880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1D732B65-5C26-A0BF-B1F4-8C9E15789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35" y="82258"/>
            <a:ext cx="2825174" cy="1117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259B8D76-2DEA-C317-8318-48BE2282E028}"/>
              </a:ext>
            </a:extLst>
          </p:cNvPr>
          <p:cNvSpPr txBox="1"/>
          <p:nvPr/>
        </p:nvSpPr>
        <p:spPr>
          <a:xfrm>
            <a:off x="5736717" y="161540"/>
            <a:ext cx="9444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</p:spTree>
    <p:extLst>
      <p:ext uri="{BB962C8B-B14F-4D97-AF65-F5344CB8AC3E}">
        <p14:creationId xmlns:p14="http://schemas.microsoft.com/office/powerpoint/2010/main" val="194044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60086" y="252375"/>
            <a:ext cx="169118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800" b="1" dirty="0">
                <a:solidFill>
                  <a:srgbClr val="1223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</a:p>
        </p:txBody>
      </p:sp>
      <p:sp>
        <p:nvSpPr>
          <p:cNvPr id="3" name="Hero panel"/>
          <p:cNvSpPr/>
          <p:nvPr/>
        </p:nvSpPr>
        <p:spPr>
          <a:xfrm>
            <a:off x="621792" y="1536192"/>
            <a:ext cx="16911828" cy="3017520"/>
          </a:xfrm>
          <a:prstGeom prst="roundRect">
            <a:avLst>
              <a:gd name="adj" fmla="val 4035"/>
            </a:avLst>
          </a:prstGeom>
          <a:solidFill>
            <a:srgbClr val="E6F3F2"/>
          </a:solidFill>
          <a:ln w="12700">
            <a:solidFill>
              <a:srgbClr val="E6F3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ndia map illustration"/>
          <p:cNvSpPr/>
          <p:nvPr/>
        </p:nvSpPr>
        <p:spPr>
          <a:xfrm>
            <a:off x="3360420" y="1577340"/>
            <a:ext cx="2880360" cy="288036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729691" y="38405"/>
                </a:moveTo>
                <a:lnTo>
                  <a:pt x="921715" y="115214"/>
                </a:lnTo>
                <a:lnTo>
                  <a:pt x="998525" y="268834"/>
                </a:lnTo>
                <a:lnTo>
                  <a:pt x="1190549" y="345643"/>
                </a:lnTo>
                <a:lnTo>
                  <a:pt x="1382573" y="422453"/>
                </a:lnTo>
                <a:lnTo>
                  <a:pt x="1574597" y="499262"/>
                </a:lnTo>
                <a:lnTo>
                  <a:pt x="1805026" y="537667"/>
                </a:lnTo>
                <a:lnTo>
                  <a:pt x="1728216" y="652882"/>
                </a:lnTo>
                <a:lnTo>
                  <a:pt x="1536192" y="652882"/>
                </a:lnTo>
                <a:lnTo>
                  <a:pt x="1497787" y="768096"/>
                </a:lnTo>
                <a:lnTo>
                  <a:pt x="1344168" y="768096"/>
                </a:lnTo>
                <a:lnTo>
                  <a:pt x="1267358" y="883310"/>
                </a:lnTo>
                <a:lnTo>
                  <a:pt x="1190549" y="1075334"/>
                </a:lnTo>
                <a:lnTo>
                  <a:pt x="1075334" y="1344168"/>
                </a:lnTo>
                <a:lnTo>
                  <a:pt x="960120" y="1613002"/>
                </a:lnTo>
                <a:lnTo>
                  <a:pt x="883310" y="1843430"/>
                </a:lnTo>
                <a:lnTo>
                  <a:pt x="806501" y="1613002"/>
                </a:lnTo>
                <a:lnTo>
                  <a:pt x="691286" y="1344168"/>
                </a:lnTo>
                <a:lnTo>
                  <a:pt x="576072" y="1113739"/>
                </a:lnTo>
                <a:lnTo>
                  <a:pt x="422453" y="998525"/>
                </a:lnTo>
                <a:lnTo>
                  <a:pt x="268834" y="883310"/>
                </a:lnTo>
                <a:lnTo>
                  <a:pt x="345643" y="768096"/>
                </a:lnTo>
                <a:lnTo>
                  <a:pt x="499262" y="691286"/>
                </a:lnTo>
                <a:lnTo>
                  <a:pt x="460858" y="537667"/>
                </a:lnTo>
                <a:lnTo>
                  <a:pt x="576072" y="384048"/>
                </a:lnTo>
                <a:lnTo>
                  <a:pt x="652882" y="230429"/>
                </a:lnTo>
                <a:close/>
              </a:path>
            </a:pathLst>
          </a:custGeom>
          <a:solidFill>
            <a:srgbClr val="B9DCD8"/>
          </a:solidFill>
          <a:ln w="12700">
            <a:solidFill>
              <a:srgbClr val="8FC4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iver 1"/>
          <p:cNvSpPr/>
          <p:nvPr/>
        </p:nvSpPr>
        <p:spPr>
          <a:xfrm>
            <a:off x="4389120" y="2194560"/>
            <a:ext cx="480060" cy="1097280"/>
          </a:xfrm>
          <a:prstGeom prst="line">
            <a:avLst/>
          </a:prstGeom>
          <a:noFill/>
          <a:ln w="19050">
            <a:solidFill>
              <a:srgbClr val="6FB3D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River 2"/>
          <p:cNvSpPr/>
          <p:nvPr/>
        </p:nvSpPr>
        <p:spPr>
          <a:xfrm flipV="1">
            <a:off x="4869180" y="2331720"/>
            <a:ext cx="685800" cy="274320"/>
          </a:xfrm>
          <a:prstGeom prst="line">
            <a:avLst/>
          </a:prstGeom>
          <a:noFill/>
          <a:ln w="19050">
            <a:solidFill>
              <a:srgbClr val="6FB3D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Leader 1"/>
          <p:cNvSpPr/>
          <p:nvPr/>
        </p:nvSpPr>
        <p:spPr>
          <a:xfrm>
            <a:off x="3360420" y="2057401"/>
            <a:ext cx="1152144" cy="326441"/>
          </a:xfrm>
          <a:prstGeom prst="line">
            <a:avLst/>
          </a:prstGeom>
          <a:noFill/>
          <a:ln w="12700">
            <a:solidFill>
              <a:srgbClr val="7A9A9A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8" name="Source label 1"/>
          <p:cNvSpPr txBox="1"/>
          <p:nvPr/>
        </p:nvSpPr>
        <p:spPr>
          <a:xfrm>
            <a:off x="754380" y="1851660"/>
            <a:ext cx="2537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Borewell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eader 2"/>
          <p:cNvSpPr/>
          <p:nvPr/>
        </p:nvSpPr>
        <p:spPr>
          <a:xfrm flipV="1">
            <a:off x="3360420" y="2902305"/>
            <a:ext cx="864108" cy="46635"/>
          </a:xfrm>
          <a:prstGeom prst="line">
            <a:avLst/>
          </a:prstGeom>
          <a:noFill/>
          <a:ln w="12700">
            <a:solidFill>
              <a:srgbClr val="7A9A9A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10" name="Source label 2"/>
          <p:cNvSpPr txBox="1"/>
          <p:nvPr/>
        </p:nvSpPr>
        <p:spPr>
          <a:xfrm>
            <a:off x="754380" y="2743200"/>
            <a:ext cx="2537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 pump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ader 3"/>
          <p:cNvSpPr/>
          <p:nvPr/>
        </p:nvSpPr>
        <p:spPr>
          <a:xfrm flipV="1">
            <a:off x="3360420" y="3363164"/>
            <a:ext cx="1324965" cy="477317"/>
          </a:xfrm>
          <a:prstGeom prst="line">
            <a:avLst/>
          </a:prstGeom>
          <a:noFill/>
          <a:ln w="12700">
            <a:solidFill>
              <a:srgbClr val="7A9A9A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12" name="Source label 3"/>
          <p:cNvSpPr txBox="1"/>
          <p:nvPr/>
        </p:nvSpPr>
        <p:spPr>
          <a:xfrm>
            <a:off x="754380" y="3634740"/>
            <a:ext cx="2537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Community water point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alo 1"/>
          <p:cNvSpPr/>
          <p:nvPr/>
        </p:nvSpPr>
        <p:spPr>
          <a:xfrm>
            <a:off x="4279392" y="2150669"/>
            <a:ext cx="466344" cy="466344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ource marker 1"/>
          <p:cNvSpPr/>
          <p:nvPr/>
        </p:nvSpPr>
        <p:spPr>
          <a:xfrm>
            <a:off x="4375404" y="2246681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Halo 2"/>
          <p:cNvSpPr/>
          <p:nvPr/>
        </p:nvSpPr>
        <p:spPr>
          <a:xfrm>
            <a:off x="4855464" y="2035455"/>
            <a:ext cx="466344" cy="466344"/>
          </a:xfrm>
          <a:prstGeom prst="ellipse">
            <a:avLst/>
          </a:prstGeom>
          <a:solidFill>
            <a:srgbClr val="D64545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ource marker 2"/>
          <p:cNvSpPr/>
          <p:nvPr/>
        </p:nvSpPr>
        <p:spPr>
          <a:xfrm>
            <a:off x="4951476" y="2131467"/>
            <a:ext cx="274320" cy="274320"/>
          </a:xfrm>
          <a:prstGeom prst="ellipse">
            <a:avLst/>
          </a:prstGeom>
          <a:solidFill>
            <a:srgbClr val="D6454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Halo 3"/>
          <p:cNvSpPr/>
          <p:nvPr/>
        </p:nvSpPr>
        <p:spPr>
          <a:xfrm>
            <a:off x="5316321" y="2208276"/>
            <a:ext cx="466344" cy="466344"/>
          </a:xfrm>
          <a:prstGeom prst="ellipse">
            <a:avLst/>
          </a:prstGeom>
          <a:solidFill>
            <a:srgbClr val="F2B01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ource marker 3"/>
          <p:cNvSpPr/>
          <p:nvPr/>
        </p:nvSpPr>
        <p:spPr>
          <a:xfrm>
            <a:off x="5412333" y="2304288"/>
            <a:ext cx="274320" cy="274320"/>
          </a:xfrm>
          <a:prstGeom prst="ellipse">
            <a:avLst/>
          </a:prstGeom>
          <a:solidFill>
            <a:srgbClr val="F2B01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Halo 4"/>
          <p:cNvSpPr/>
          <p:nvPr/>
        </p:nvSpPr>
        <p:spPr>
          <a:xfrm>
            <a:off x="3991356" y="2669133"/>
            <a:ext cx="466344" cy="466344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ource marker 4"/>
          <p:cNvSpPr/>
          <p:nvPr/>
        </p:nvSpPr>
        <p:spPr>
          <a:xfrm>
            <a:off x="4087368" y="2765145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Halo 5"/>
          <p:cNvSpPr/>
          <p:nvPr/>
        </p:nvSpPr>
        <p:spPr>
          <a:xfrm>
            <a:off x="4625036" y="2611527"/>
            <a:ext cx="466344" cy="466344"/>
          </a:xfrm>
          <a:prstGeom prst="ellipse">
            <a:avLst/>
          </a:prstGeom>
          <a:solidFill>
            <a:srgbClr val="F2B01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ource marker 5"/>
          <p:cNvSpPr/>
          <p:nvPr/>
        </p:nvSpPr>
        <p:spPr>
          <a:xfrm>
            <a:off x="4721048" y="2707539"/>
            <a:ext cx="274320" cy="274320"/>
          </a:xfrm>
          <a:prstGeom prst="ellipse">
            <a:avLst/>
          </a:prstGeom>
          <a:solidFill>
            <a:srgbClr val="F2B01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Halo 6"/>
          <p:cNvSpPr/>
          <p:nvPr/>
        </p:nvSpPr>
        <p:spPr>
          <a:xfrm>
            <a:off x="4452213" y="3129992"/>
            <a:ext cx="466344" cy="466344"/>
          </a:xfrm>
          <a:prstGeom prst="ellipse">
            <a:avLst/>
          </a:prstGeom>
          <a:solidFill>
            <a:srgbClr val="D64545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ource marker 6"/>
          <p:cNvSpPr/>
          <p:nvPr/>
        </p:nvSpPr>
        <p:spPr>
          <a:xfrm>
            <a:off x="4548225" y="3226004"/>
            <a:ext cx="274320" cy="274320"/>
          </a:xfrm>
          <a:prstGeom prst="ellipse">
            <a:avLst/>
          </a:prstGeom>
          <a:solidFill>
            <a:srgbClr val="D6454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Halo 7"/>
          <p:cNvSpPr/>
          <p:nvPr/>
        </p:nvSpPr>
        <p:spPr>
          <a:xfrm>
            <a:off x="4452213" y="3533241"/>
            <a:ext cx="466344" cy="466344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ource marker 7"/>
          <p:cNvSpPr/>
          <p:nvPr/>
        </p:nvSpPr>
        <p:spPr>
          <a:xfrm>
            <a:off x="4548225" y="3629253"/>
            <a:ext cx="274320" cy="274320"/>
          </a:xfrm>
          <a:prstGeom prst="ellipse">
            <a:avLst/>
          </a:prstGeom>
          <a:solidFill>
            <a:srgbClr val="2E9E5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Legend dot 1"/>
          <p:cNvSpPr/>
          <p:nvPr/>
        </p:nvSpPr>
        <p:spPr>
          <a:xfrm>
            <a:off x="6583680" y="2468880"/>
            <a:ext cx="301752" cy="30175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Legend text 1"/>
          <p:cNvSpPr txBox="1"/>
          <p:nvPr/>
        </p:nvSpPr>
        <p:spPr>
          <a:xfrm>
            <a:off x="7022592" y="2400300"/>
            <a:ext cx="2537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/ routine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egend dot 2"/>
          <p:cNvSpPr/>
          <p:nvPr/>
        </p:nvSpPr>
        <p:spPr>
          <a:xfrm>
            <a:off x="6583680" y="3044952"/>
            <a:ext cx="301752" cy="301752"/>
          </a:xfrm>
          <a:prstGeom prst="ellipse">
            <a:avLst/>
          </a:prstGeom>
          <a:solidFill>
            <a:srgbClr val="F2B0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Legend text 2"/>
          <p:cNvSpPr txBox="1"/>
          <p:nvPr/>
        </p:nvSpPr>
        <p:spPr>
          <a:xfrm>
            <a:off x="7022592" y="2976372"/>
            <a:ext cx="2537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/ retest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egend dot 3"/>
          <p:cNvSpPr/>
          <p:nvPr/>
        </p:nvSpPr>
        <p:spPr>
          <a:xfrm>
            <a:off x="6583680" y="3621024"/>
            <a:ext cx="301752" cy="30175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Legend text 3"/>
          <p:cNvSpPr txBox="1"/>
          <p:nvPr/>
        </p:nvSpPr>
        <p:spPr>
          <a:xfrm>
            <a:off x="7022592" y="3552444"/>
            <a:ext cx="2537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/ lab confirmation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low start arrow"/>
          <p:cNvSpPr/>
          <p:nvPr/>
        </p:nvSpPr>
        <p:spPr>
          <a:xfrm>
            <a:off x="9532620" y="2839212"/>
            <a:ext cx="411480" cy="384048"/>
          </a:xfrm>
          <a:prstGeom prst="rightArrow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Flow caption"/>
          <p:cNvSpPr txBox="1"/>
          <p:nvPr/>
        </p:nvSpPr>
        <p:spPr>
          <a:xfrm>
            <a:off x="10081260" y="171450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i="1" dirty="0">
                <a:solidFill>
                  <a:srgbClr val="1B7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Screening data flows up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Chain box Village"/>
          <p:cNvSpPr/>
          <p:nvPr/>
        </p:nvSpPr>
        <p:spPr>
          <a:xfrm>
            <a:off x="10081260" y="2400300"/>
            <a:ext cx="1508760" cy="1165860"/>
          </a:xfrm>
          <a:prstGeom prst="roundRect">
            <a:avLst>
              <a:gd name="adj" fmla="val 11765"/>
            </a:avLst>
          </a:prstGeom>
          <a:solidFill>
            <a:srgbClr val="5FB0B7"/>
          </a:solidFill>
          <a:ln w="12700">
            <a:solidFill>
              <a:srgbClr val="5FB0B7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Chain label Village"/>
          <p:cNvSpPr txBox="1"/>
          <p:nvPr/>
        </p:nvSpPr>
        <p:spPr>
          <a:xfrm>
            <a:off x="10081260" y="2400300"/>
            <a:ext cx="15087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Village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hain arrow 1"/>
          <p:cNvSpPr/>
          <p:nvPr/>
        </p:nvSpPr>
        <p:spPr>
          <a:xfrm>
            <a:off x="11631168" y="2811780"/>
            <a:ext cx="288036" cy="342900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Chain box Block"/>
          <p:cNvSpPr/>
          <p:nvPr/>
        </p:nvSpPr>
        <p:spPr>
          <a:xfrm>
            <a:off x="11960352" y="2400300"/>
            <a:ext cx="1508760" cy="1165860"/>
          </a:xfrm>
          <a:prstGeom prst="roundRect">
            <a:avLst>
              <a:gd name="adj" fmla="val 11765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Chain label Block"/>
          <p:cNvSpPr txBox="1"/>
          <p:nvPr/>
        </p:nvSpPr>
        <p:spPr>
          <a:xfrm>
            <a:off x="11960352" y="2400300"/>
            <a:ext cx="15087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hain arrow 2"/>
          <p:cNvSpPr/>
          <p:nvPr/>
        </p:nvSpPr>
        <p:spPr>
          <a:xfrm>
            <a:off x="13510260" y="2811780"/>
            <a:ext cx="288036" cy="342900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Chain box District"/>
          <p:cNvSpPr/>
          <p:nvPr/>
        </p:nvSpPr>
        <p:spPr>
          <a:xfrm>
            <a:off x="13839444" y="2400300"/>
            <a:ext cx="1508760" cy="1165860"/>
          </a:xfrm>
          <a:prstGeom prst="roundRect">
            <a:avLst>
              <a:gd name="adj" fmla="val 11765"/>
            </a:avLst>
          </a:prstGeom>
          <a:solidFill>
            <a:srgbClr val="136170"/>
          </a:solidFill>
          <a:ln w="12700">
            <a:solidFill>
              <a:srgbClr val="13617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Chain label District"/>
          <p:cNvSpPr txBox="1"/>
          <p:nvPr/>
        </p:nvSpPr>
        <p:spPr>
          <a:xfrm>
            <a:off x="13839444" y="2400300"/>
            <a:ext cx="15087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hain arrow 3"/>
          <p:cNvSpPr/>
          <p:nvPr/>
        </p:nvSpPr>
        <p:spPr>
          <a:xfrm>
            <a:off x="15389352" y="2811780"/>
            <a:ext cx="288036" cy="342900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Chain box State"/>
          <p:cNvSpPr/>
          <p:nvPr/>
        </p:nvSpPr>
        <p:spPr>
          <a:xfrm>
            <a:off x="15718536" y="2400300"/>
            <a:ext cx="1508760" cy="1165860"/>
          </a:xfrm>
          <a:prstGeom prst="roundRect">
            <a:avLst>
              <a:gd name="adj" fmla="val 11765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Chain label State"/>
          <p:cNvSpPr txBox="1"/>
          <p:nvPr/>
        </p:nvSpPr>
        <p:spPr>
          <a:xfrm>
            <a:off x="15718536" y="2400300"/>
            <a:ext cx="15087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Flow sub-caption"/>
          <p:cNvSpPr txBox="1"/>
          <p:nvPr/>
        </p:nvSpPr>
        <p:spPr>
          <a:xfrm>
            <a:off x="10081260" y="38404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screening event, from source to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rd 1"/>
          <p:cNvSpPr/>
          <p:nvPr/>
        </p:nvSpPr>
        <p:spPr>
          <a:xfrm>
            <a:off x="685800" y="4732020"/>
            <a:ext cx="4046220" cy="1810512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Card icon bg 1"/>
          <p:cNvSpPr/>
          <p:nvPr/>
        </p:nvSpPr>
        <p:spPr>
          <a:xfrm>
            <a:off x="891540" y="4896612"/>
            <a:ext cx="685800" cy="6858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0" descr="Safer Water Monitor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074920"/>
            <a:ext cx="329184" cy="329184"/>
          </a:xfrm>
          <a:prstGeom prst="rect">
            <a:avLst/>
          </a:prstGeom>
        </p:spPr>
      </p:pic>
      <p:sp>
        <p:nvSpPr>
          <p:cNvPr id="50" name="Card title 1"/>
          <p:cNvSpPr txBox="1"/>
          <p:nvPr/>
        </p:nvSpPr>
        <p:spPr>
          <a:xfrm>
            <a:off x="1755648" y="4869180"/>
            <a:ext cx="28117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B3C5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Safer Water Monitoring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rd text 1"/>
          <p:cNvSpPr txBox="1"/>
          <p:nvPr/>
        </p:nvSpPr>
        <p:spPr>
          <a:xfrm>
            <a:off x="891540" y="5637276"/>
            <a:ext cx="36347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Earlier identification of potentially contaminated sources.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rd 2"/>
          <p:cNvSpPr/>
          <p:nvPr/>
        </p:nvSpPr>
        <p:spPr>
          <a:xfrm>
            <a:off x="4974794" y="4732020"/>
            <a:ext cx="4046220" cy="1810512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Card icon bg 2"/>
          <p:cNvSpPr/>
          <p:nvPr/>
        </p:nvSpPr>
        <p:spPr>
          <a:xfrm>
            <a:off x="5180534" y="4896612"/>
            <a:ext cx="685800" cy="6858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1" descr="Faster Risk Identific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842" y="5074920"/>
            <a:ext cx="329184" cy="329184"/>
          </a:xfrm>
          <a:prstGeom prst="rect">
            <a:avLst/>
          </a:prstGeom>
        </p:spPr>
      </p:pic>
      <p:sp>
        <p:nvSpPr>
          <p:cNvPr id="55" name="Card title 2"/>
          <p:cNvSpPr txBox="1"/>
          <p:nvPr/>
        </p:nvSpPr>
        <p:spPr>
          <a:xfrm>
            <a:off x="6044642" y="4869180"/>
            <a:ext cx="28117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B3C5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Risk Identification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ard text 2"/>
          <p:cNvSpPr txBox="1"/>
          <p:nvPr/>
        </p:nvSpPr>
        <p:spPr>
          <a:xfrm>
            <a:off x="5180534" y="5637276"/>
            <a:ext cx="36347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dependence on waiting for every sample to reach a central laboratory before prioritization.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Card 3"/>
          <p:cNvSpPr/>
          <p:nvPr/>
        </p:nvSpPr>
        <p:spPr>
          <a:xfrm>
            <a:off x="9263787" y="4732020"/>
            <a:ext cx="4046220" cy="1810512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Card icon bg 3"/>
          <p:cNvSpPr/>
          <p:nvPr/>
        </p:nvSpPr>
        <p:spPr>
          <a:xfrm>
            <a:off x="9469527" y="4896612"/>
            <a:ext cx="685800" cy="68580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Image 2" descr="Source-Level Tracea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7835" y="5074920"/>
            <a:ext cx="329184" cy="329184"/>
          </a:xfrm>
          <a:prstGeom prst="rect">
            <a:avLst/>
          </a:prstGeom>
        </p:spPr>
      </p:pic>
      <p:sp>
        <p:nvSpPr>
          <p:cNvPr id="60" name="Card title 3"/>
          <p:cNvSpPr txBox="1"/>
          <p:nvPr/>
        </p:nvSpPr>
        <p:spPr>
          <a:xfrm>
            <a:off x="10333635" y="4869180"/>
            <a:ext cx="28117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B3C5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Source-Level Traceability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Card text 3"/>
          <p:cNvSpPr txBox="1"/>
          <p:nvPr/>
        </p:nvSpPr>
        <p:spPr>
          <a:xfrm>
            <a:off x="9469527" y="5637276"/>
            <a:ext cx="36347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screening event linked to source identity, location and history.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Card 4"/>
          <p:cNvSpPr/>
          <p:nvPr/>
        </p:nvSpPr>
        <p:spPr>
          <a:xfrm>
            <a:off x="13552779" y="4732020"/>
            <a:ext cx="4046220" cy="1810512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Card icon bg 4"/>
          <p:cNvSpPr/>
          <p:nvPr/>
        </p:nvSpPr>
        <p:spPr>
          <a:xfrm>
            <a:off x="13758519" y="4896612"/>
            <a:ext cx="685800" cy="6858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3" descr="Data-Driven Governanc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6827" y="5074920"/>
            <a:ext cx="329184" cy="329184"/>
          </a:xfrm>
          <a:prstGeom prst="rect">
            <a:avLst/>
          </a:prstGeom>
        </p:spPr>
      </p:pic>
      <p:sp>
        <p:nvSpPr>
          <p:cNvPr id="65" name="Card title 4"/>
          <p:cNvSpPr txBox="1"/>
          <p:nvPr/>
        </p:nvSpPr>
        <p:spPr>
          <a:xfrm>
            <a:off x="14622627" y="4869180"/>
            <a:ext cx="28117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B3C5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Data-Driven Governance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Card text 4"/>
          <p:cNvSpPr txBox="1"/>
          <p:nvPr/>
        </p:nvSpPr>
        <p:spPr>
          <a:xfrm>
            <a:off x="13758519" y="5637276"/>
            <a:ext cx="36347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Authorities can identify trends and prioritize follow-up.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Benefits heading"/>
          <p:cNvSpPr txBox="1"/>
          <p:nvPr/>
        </p:nvSpPr>
        <p:spPr>
          <a:xfrm>
            <a:off x="685800" y="6611112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B3C5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Benefits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Benefit panel SOCIAL"/>
          <p:cNvSpPr/>
          <p:nvPr/>
        </p:nvSpPr>
        <p:spPr>
          <a:xfrm>
            <a:off x="685800" y="7022592"/>
            <a:ext cx="5486400" cy="1755648"/>
          </a:xfrm>
          <a:prstGeom prst="roundRect">
            <a:avLst>
              <a:gd name="adj" fmla="val 7813"/>
            </a:avLst>
          </a:prstGeom>
          <a:solidFill>
            <a:srgbClr val="F3F8F8"/>
          </a:solidFill>
          <a:ln w="12700">
            <a:solidFill>
              <a:srgbClr val="F3F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Benefit chip SOCIAL"/>
          <p:cNvSpPr/>
          <p:nvPr/>
        </p:nvSpPr>
        <p:spPr>
          <a:xfrm>
            <a:off x="891540" y="7159752"/>
            <a:ext cx="2125980" cy="370332"/>
          </a:xfrm>
          <a:prstGeom prst="roundRect">
            <a:avLst>
              <a:gd name="adj" fmla="val 22222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Benefit chip text SOCIAL"/>
          <p:cNvSpPr txBox="1"/>
          <p:nvPr/>
        </p:nvSpPr>
        <p:spPr>
          <a:xfrm>
            <a:off x="891540" y="7159752"/>
            <a:ext cx="21259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Benefit bullets SOCIAL"/>
          <p:cNvSpPr txBox="1"/>
          <p:nvPr/>
        </p:nvSpPr>
        <p:spPr>
          <a:xfrm>
            <a:off x="891540" y="7598664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rural water surveillance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identification of potentially risky sources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field workers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Benefit panel ECONOMIC"/>
          <p:cNvSpPr/>
          <p:nvPr/>
        </p:nvSpPr>
        <p:spPr>
          <a:xfrm>
            <a:off x="6398514" y="7022592"/>
            <a:ext cx="5486400" cy="1755648"/>
          </a:xfrm>
          <a:prstGeom prst="roundRect">
            <a:avLst>
              <a:gd name="adj" fmla="val 7813"/>
            </a:avLst>
          </a:prstGeom>
          <a:solidFill>
            <a:srgbClr val="F3F8F8"/>
          </a:solidFill>
          <a:ln w="12700">
            <a:solidFill>
              <a:srgbClr val="F3F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Benefit chip ECONOMIC"/>
          <p:cNvSpPr/>
          <p:nvPr/>
        </p:nvSpPr>
        <p:spPr>
          <a:xfrm>
            <a:off x="6604254" y="7159752"/>
            <a:ext cx="2125980" cy="370332"/>
          </a:xfrm>
          <a:prstGeom prst="roundRect">
            <a:avLst>
              <a:gd name="adj" fmla="val 2222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Benefit chip text ECONOMIC"/>
          <p:cNvSpPr txBox="1"/>
          <p:nvPr/>
        </p:nvSpPr>
        <p:spPr>
          <a:xfrm>
            <a:off x="6604254" y="7159752"/>
            <a:ext cx="21259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ECONOMIC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Benefit bullets ECONOMIC"/>
          <p:cNvSpPr txBox="1"/>
          <p:nvPr/>
        </p:nvSpPr>
        <p:spPr>
          <a:xfrm>
            <a:off x="6604254" y="7598664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unnecessary laboratory testing through prioritization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Reusable core device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consumables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Benefit panel ENVIRONMENTAL"/>
          <p:cNvSpPr/>
          <p:nvPr/>
        </p:nvSpPr>
        <p:spPr>
          <a:xfrm>
            <a:off x="12111228" y="7022592"/>
            <a:ext cx="5486400" cy="1755648"/>
          </a:xfrm>
          <a:prstGeom prst="roundRect">
            <a:avLst>
              <a:gd name="adj" fmla="val 7813"/>
            </a:avLst>
          </a:prstGeom>
          <a:solidFill>
            <a:srgbClr val="F3F8F8"/>
          </a:solidFill>
          <a:ln w="12700">
            <a:solidFill>
              <a:srgbClr val="F3F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Benefit chip ENVIRONMENTAL"/>
          <p:cNvSpPr/>
          <p:nvPr/>
        </p:nvSpPr>
        <p:spPr>
          <a:xfrm>
            <a:off x="12316968" y="7159752"/>
            <a:ext cx="2125980" cy="370332"/>
          </a:xfrm>
          <a:prstGeom prst="roundRect">
            <a:avLst>
              <a:gd name="adj" fmla="val 22222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Benefit chip text ENVIRONMENTAL"/>
          <p:cNvSpPr txBox="1"/>
          <p:nvPr/>
        </p:nvSpPr>
        <p:spPr>
          <a:xfrm>
            <a:off x="12316968" y="7159752"/>
            <a:ext cx="21259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ENVIRONMENTAL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Benefit bullets ENVIRONMENTAL"/>
          <p:cNvSpPr txBox="1"/>
          <p:nvPr/>
        </p:nvSpPr>
        <p:spPr>
          <a:xfrm>
            <a:off x="12316968" y="7598664"/>
            <a:ext cx="5074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emerging-contaminant monitoring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Enables source-level trend tracking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ts val="300"/>
              </a:spcAft>
              <a:buSzPct val="100000"/>
              <a:buChar char="•"/>
            </a:pPr>
            <a:r>
              <a:rPr lang="en-US" sz="1650" dirty="0">
                <a:solidFill>
                  <a:srgbClr val="1F2D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Helps identify priority contamination hotspots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tep shape 1"/>
          <p:cNvSpPr/>
          <p:nvPr/>
        </p:nvSpPr>
        <p:spPr>
          <a:xfrm>
            <a:off x="685800" y="8983980"/>
            <a:ext cx="4526280" cy="850392"/>
          </a:xfrm>
          <a:prstGeom prst="homePlate">
            <a:avLst/>
          </a:prstGeom>
          <a:solidFill>
            <a:srgbClr val="1B7F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tep text 1"/>
          <p:cNvSpPr txBox="1"/>
          <p:nvPr/>
        </p:nvSpPr>
        <p:spPr>
          <a:xfrm>
            <a:off x="822960" y="8983980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 in the field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tep shape 2"/>
          <p:cNvSpPr/>
          <p:nvPr/>
        </p:nvSpPr>
        <p:spPr>
          <a:xfrm>
            <a:off x="4800600" y="8983980"/>
            <a:ext cx="4526280" cy="850392"/>
          </a:xfrm>
          <a:prstGeom prst="chevron">
            <a:avLst/>
          </a:prstGeom>
          <a:solidFill>
            <a:srgbClr val="13617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tep text 2"/>
          <p:cNvSpPr txBox="1"/>
          <p:nvPr/>
        </p:nvSpPr>
        <p:spPr>
          <a:xfrm>
            <a:off x="5349240" y="8983980"/>
            <a:ext cx="3429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intelligently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tep shape 3"/>
          <p:cNvSpPr/>
          <p:nvPr/>
        </p:nvSpPr>
        <p:spPr>
          <a:xfrm>
            <a:off x="8915400" y="8983980"/>
            <a:ext cx="4526280" cy="850392"/>
          </a:xfrm>
          <a:prstGeom prst="chevron">
            <a:avLst/>
          </a:prstGeom>
          <a:solidFill>
            <a:srgbClr val="0E4C6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tep text 3"/>
          <p:cNvSpPr txBox="1"/>
          <p:nvPr/>
        </p:nvSpPr>
        <p:spPr>
          <a:xfrm>
            <a:off x="9464040" y="8983980"/>
            <a:ext cx="3429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 in the lab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tep shape 4"/>
          <p:cNvSpPr/>
          <p:nvPr/>
        </p:nvSpPr>
        <p:spPr>
          <a:xfrm>
            <a:off x="13030200" y="8983980"/>
            <a:ext cx="4526280" cy="850392"/>
          </a:xfrm>
          <a:prstGeom prst="chevron">
            <a:avLst/>
          </a:prstGeom>
          <a:solidFill>
            <a:srgbClr val="0B3C5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tep text 4"/>
          <p:cNvSpPr txBox="1"/>
          <p:nvPr/>
        </p:nvSpPr>
        <p:spPr>
          <a:xfrm>
            <a:off x="13578840" y="8983980"/>
            <a:ext cx="3429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 at the source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C2AF289-A54D-C0B1-5403-ADCC4B5FE3AD}"/>
              </a:ext>
            </a:extLst>
          </p:cNvPr>
          <p:cNvSpPr/>
          <p:nvPr/>
        </p:nvSpPr>
        <p:spPr>
          <a:xfrm>
            <a:off x="0" y="9939815"/>
            <a:ext cx="18288000" cy="357188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22DF49D-3991-AA0B-24FB-BE7F09341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1312" y="54900"/>
            <a:ext cx="2647688" cy="126503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33C95736-9B7B-9C30-5C93-C3D5484C28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347" y="139490"/>
            <a:ext cx="2825174" cy="1117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279AEB0A-A7B9-EEEB-7FCE-C34D7FAA9CB6}"/>
              </a:ext>
            </a:extLst>
          </p:cNvPr>
          <p:cNvSpPr/>
          <p:nvPr/>
        </p:nvSpPr>
        <p:spPr>
          <a:xfrm>
            <a:off x="119787" y="1269743"/>
            <a:ext cx="182880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30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1FFFED-2B9E-9EEF-7FBF-116FF94AC78B}"/>
              </a:ext>
            </a:extLst>
          </p:cNvPr>
          <p:cNvSpPr txBox="1"/>
          <p:nvPr/>
        </p:nvSpPr>
        <p:spPr>
          <a:xfrm>
            <a:off x="5846885" y="276957"/>
            <a:ext cx="6594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References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66942A-4A55-E07D-554F-78E813B27D29}"/>
              </a:ext>
            </a:extLst>
          </p:cNvPr>
          <p:cNvCxnSpPr/>
          <p:nvPr/>
        </p:nvCxnSpPr>
        <p:spPr>
          <a:xfrm>
            <a:off x="0" y="1193685"/>
            <a:ext cx="18288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BC6D5B-E4D8-6101-678D-9401E1DA5918}"/>
              </a:ext>
            </a:extLst>
          </p:cNvPr>
          <p:cNvCxnSpPr>
            <a:cxnSpLocks/>
          </p:cNvCxnSpPr>
          <p:nvPr/>
        </p:nvCxnSpPr>
        <p:spPr>
          <a:xfrm>
            <a:off x="10330248" y="1193685"/>
            <a:ext cx="0" cy="87164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C246BCD-1E8E-093E-0EDF-E879EB2EBCBD}"/>
              </a:ext>
            </a:extLst>
          </p:cNvPr>
          <p:cNvSpPr/>
          <p:nvPr/>
        </p:nvSpPr>
        <p:spPr>
          <a:xfrm>
            <a:off x="76934" y="2037721"/>
            <a:ext cx="10154463" cy="19315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BBDDF8-EEB4-0923-70DC-7FB20FDD6745}"/>
              </a:ext>
            </a:extLst>
          </p:cNvPr>
          <p:cNvSpPr/>
          <p:nvPr/>
        </p:nvSpPr>
        <p:spPr>
          <a:xfrm>
            <a:off x="112103" y="4094270"/>
            <a:ext cx="10119294" cy="171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35163B-2B57-BA78-D224-BCAA811B68D9}"/>
              </a:ext>
            </a:extLst>
          </p:cNvPr>
          <p:cNvSpPr/>
          <p:nvPr/>
        </p:nvSpPr>
        <p:spPr>
          <a:xfrm>
            <a:off x="118694" y="6659843"/>
            <a:ext cx="10112703" cy="15301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BC5F9-A27B-75C5-23C8-159C14FC85EA}"/>
              </a:ext>
            </a:extLst>
          </p:cNvPr>
          <p:cNvSpPr/>
          <p:nvPr/>
        </p:nvSpPr>
        <p:spPr>
          <a:xfrm>
            <a:off x="118694" y="8394398"/>
            <a:ext cx="10112703" cy="13782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D053D-6562-64B4-F08B-1C4B654D8681}"/>
              </a:ext>
            </a:extLst>
          </p:cNvPr>
          <p:cNvSpPr txBox="1"/>
          <p:nvPr/>
        </p:nvSpPr>
        <p:spPr>
          <a:xfrm>
            <a:off x="2979492" y="1430693"/>
            <a:ext cx="58952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and References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1A654-7F08-E675-36CB-3A488A1B67F1}"/>
              </a:ext>
            </a:extLst>
          </p:cNvPr>
          <p:cNvSpPr txBox="1"/>
          <p:nvPr/>
        </p:nvSpPr>
        <p:spPr>
          <a:xfrm>
            <a:off x="2062511" y="5968034"/>
            <a:ext cx="58952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Reference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CD6DF90-411A-99B1-4B58-E2E43845F908}"/>
              </a:ext>
            </a:extLst>
          </p:cNvPr>
          <p:cNvGrpSpPr/>
          <p:nvPr/>
        </p:nvGrpSpPr>
        <p:grpSpPr>
          <a:xfrm>
            <a:off x="2722317" y="1491411"/>
            <a:ext cx="514350" cy="448395"/>
            <a:chOff x="0" y="0"/>
            <a:chExt cx="304800" cy="266700"/>
          </a:xfrm>
        </p:grpSpPr>
        <p:sp>
          <p:nvSpPr>
            <p:cNvPr id="19" name="Freeform 15" descr="image.png">
              <a:extLst>
                <a:ext uri="{FF2B5EF4-FFF2-40B4-BE49-F238E27FC236}">
                  <a16:creationId xmlns:a16="http://schemas.microsoft.com/office/drawing/2014/main" id="{0ABD7884-5F7E-365D-D40E-0A1E7CB5A6C7}"/>
                </a:ext>
              </a:extLst>
            </p:cNvPr>
            <p:cNvSpPr/>
            <p:nvPr/>
          </p:nvSpPr>
          <p:spPr>
            <a:xfrm>
              <a:off x="0" y="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571" b="-3571"/>
              </a:stretch>
            </a:blipFill>
          </p:spPr>
          <p:txBody>
            <a:bodyPr/>
            <a:lstStyle/>
            <a:p>
              <a:endParaRPr lang="en-IN" sz="40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4">
            <a:extLst>
              <a:ext uri="{FF2B5EF4-FFF2-40B4-BE49-F238E27FC236}">
                <a16:creationId xmlns:a16="http://schemas.microsoft.com/office/drawing/2014/main" id="{A8690E37-0889-D867-686C-F8A09DE6CE20}"/>
              </a:ext>
            </a:extLst>
          </p:cNvPr>
          <p:cNvGrpSpPr/>
          <p:nvPr/>
        </p:nvGrpSpPr>
        <p:grpSpPr>
          <a:xfrm>
            <a:off x="2737845" y="6076901"/>
            <a:ext cx="514350" cy="395654"/>
            <a:chOff x="0" y="0"/>
            <a:chExt cx="304800" cy="266700"/>
          </a:xfrm>
        </p:grpSpPr>
        <p:sp>
          <p:nvSpPr>
            <p:cNvPr id="21" name="Freeform 15" descr="image.png">
              <a:extLst>
                <a:ext uri="{FF2B5EF4-FFF2-40B4-BE49-F238E27FC236}">
                  <a16:creationId xmlns:a16="http://schemas.microsoft.com/office/drawing/2014/main" id="{E0040B46-F5FB-8269-80F7-DB138C8C51BA}"/>
                </a:ext>
              </a:extLst>
            </p:cNvPr>
            <p:cNvSpPr/>
            <p:nvPr/>
          </p:nvSpPr>
          <p:spPr>
            <a:xfrm>
              <a:off x="0" y="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571" b="-3571"/>
              </a:stretch>
            </a:blipFill>
          </p:spPr>
          <p:txBody>
            <a:bodyPr/>
            <a:lstStyle/>
            <a:p>
              <a:endParaRPr lang="en-IN" sz="40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8901719-D234-B9C8-BD97-1E63B1DFD5DF}"/>
              </a:ext>
            </a:extLst>
          </p:cNvPr>
          <p:cNvSpPr txBox="1"/>
          <p:nvPr/>
        </p:nvSpPr>
        <p:spPr>
          <a:xfrm>
            <a:off x="112102" y="2096966"/>
            <a:ext cx="57347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 Detection using AI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0530AE-762A-20C9-468D-C1580CEF7306}"/>
              </a:ext>
            </a:extLst>
          </p:cNvPr>
          <p:cNvSpPr txBox="1"/>
          <p:nvPr/>
        </p:nvSpPr>
        <p:spPr>
          <a:xfrm>
            <a:off x="151667" y="2557751"/>
            <a:ext cx="10218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Thota,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Challapalli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Garikapati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M. S. Adusumilli,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Anamalamudi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"Microplastic Detection in Drinking Water: A Comparative Analysis of CNN-SVM and CNN-RF Hybrid Models,"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OITS International Conference on Information Technology (OCIT)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Vijayawada, India, 2024, pp. 24-29,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IEE Excess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27FC19-A72F-B433-CE8F-E99994E2BE6D}"/>
              </a:ext>
            </a:extLst>
          </p:cNvPr>
          <p:cNvSpPr txBox="1"/>
          <p:nvPr/>
        </p:nvSpPr>
        <p:spPr>
          <a:xfrm>
            <a:off x="151667" y="4131296"/>
            <a:ext cx="4794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PFAS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5F49BA-F391-AB30-3D46-0D9957B85B7B}"/>
              </a:ext>
            </a:extLst>
          </p:cNvPr>
          <p:cNvSpPr txBox="1"/>
          <p:nvPr/>
        </p:nvSpPr>
        <p:spPr>
          <a:xfrm>
            <a:off x="112102" y="4510442"/>
            <a:ext cx="10154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Andraju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Curtzwiler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Ji, E.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Kozliak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P. Ranganathan, "Machine Learning Models for PFAS Tracking, Detection and Remediation: A Review,"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IEEE International Conference on Electro Information Technology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Romeoville, IL, USA, 2023, pp. 137-142,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IEE Excess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5CC73-B5F5-40B9-9982-2C0AFE3B10D6}"/>
              </a:ext>
            </a:extLst>
          </p:cNvPr>
          <p:cNvSpPr txBox="1"/>
          <p:nvPr/>
        </p:nvSpPr>
        <p:spPr>
          <a:xfrm>
            <a:off x="151667" y="6659841"/>
            <a:ext cx="52292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+ Cloud Water Quality Monitoring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3A95E-3266-3260-188E-D0049570C0D3}"/>
              </a:ext>
            </a:extLst>
          </p:cNvPr>
          <p:cNvSpPr txBox="1"/>
          <p:nvPr/>
        </p:nvSpPr>
        <p:spPr>
          <a:xfrm>
            <a:off x="273662" y="7147938"/>
            <a:ext cx="9760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Raman and A. Deshpande, "Real-time Monitoring System for Safe Drinking Water Safety Using IoT and Cloud Computing,"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Advances in Data Engineering and Intelligent Computing Systems (ADICS)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Chennai, India, 2024, pp. 1-6,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IEE Excess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6C4314-0883-AC80-9426-AE9E0971F0CB}"/>
              </a:ext>
            </a:extLst>
          </p:cNvPr>
          <p:cNvSpPr txBox="1"/>
          <p:nvPr/>
        </p:nvSpPr>
        <p:spPr>
          <a:xfrm>
            <a:off x="273662" y="8453804"/>
            <a:ext cx="42499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IoT Water Testing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D53166-6354-75B7-C7CE-8BD15B483FBC}"/>
              </a:ext>
            </a:extLst>
          </p:cNvPr>
          <p:cNvSpPr txBox="1"/>
          <p:nvPr/>
        </p:nvSpPr>
        <p:spPr>
          <a:xfrm>
            <a:off x="156062" y="8770080"/>
            <a:ext cx="10174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K. Manda,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Katarapu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Kurakula, S. P and S.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Ammana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"Compact IoT-Enabled Water Testing Kit for E.coli and Coliform Contamination,"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8th International Conference on Trends in Electronics and Informatics (ICOEI)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Tirunelveli, India, 2025, pp. 565-570,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IEE Excess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757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1535</Words>
  <Application>Microsoft Office PowerPoint</Application>
  <PresentationFormat>Custom</PresentationFormat>
  <Paragraphs>301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Inter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inn.pptx</dc:title>
  <dc:creator>user</dc:creator>
  <cp:lastModifiedBy>AADARSH KUMAR CHAUHARY RTC2025BAM191</cp:lastModifiedBy>
  <cp:revision>19</cp:revision>
  <dcterms:created xsi:type="dcterms:W3CDTF">2006-08-16T00:00:00Z</dcterms:created>
  <dcterms:modified xsi:type="dcterms:W3CDTF">2026-10-16T10:30:23Z</dcterms:modified>
  <dc:identifier>DAHVcPgrG3Q</dc:identifier>
</cp:coreProperties>
</file>